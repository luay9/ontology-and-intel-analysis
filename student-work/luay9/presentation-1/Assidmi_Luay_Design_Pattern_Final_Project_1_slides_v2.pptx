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4" r:id="rId4"/>
    <p:sldId id="259" r:id="rId5"/>
    <p:sldId id="271" r:id="rId6"/>
    <p:sldId id="276" r:id="rId18"/>
    <p:sldId id="272" r:id="rId7"/>
    <p:sldId id="263" r:id="rId8"/>
    <p:sldId id="264" r:id="rId9"/>
    <p:sldId id="275" r:id="rId10"/>
    <p:sldId id="273" r:id="rId11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09325D-26C1-4B45-87E3-36A43D90B3A1}" v="1" dt="2026-09-29T06:09:14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0" d="100"/>
          <a:sy n="80" d="100"/>
        </p:scale>
        <p:origin x="51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ay M. Assidmi" userId="6380813698af8917" providerId="LiveId" clId="{596ED143-3399-4AD2-B261-419606FDECC9}"/>
    <pc:docChg chg="modSld">
      <pc:chgData name="Luay M. Assidmi" userId="6380813698af8917" providerId="LiveId" clId="{596ED143-3399-4AD2-B261-419606FDECC9}" dt="2026-09-29T06:09:14.440" v="0"/>
      <pc:docMkLst>
        <pc:docMk/>
      </pc:docMkLst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2557947587" sldId="256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2557947587" sldId="256"/>
            <ac:picMk id="31" creationId="{3A8B5624-5F81-3C32-4E1C-6F768EC175DF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1158472534" sldId="259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1158472534" sldId="259"/>
            <ac:picMk id="6" creationId="{2C41403E-D38F-5874-0219-C95A6754D53F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2293090528" sldId="263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2293090528" sldId="263"/>
            <ac:picMk id="7" creationId="{3745FD49-4B83-CFA6-A010-CC750574FD22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1016418270" sldId="264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1016418270" sldId="264"/>
            <ac:picMk id="10" creationId="{19ADA60F-3EB1-273F-2D46-D9D8533EA863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3453587714" sldId="266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3453587714" sldId="266"/>
            <ac:picMk id="5" creationId="{DD873445-02BC-8DBC-3F02-10D24367C449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3414047541" sldId="271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3414047541" sldId="271"/>
            <ac:picMk id="5" creationId="{434EF15D-CDD6-60E9-E32C-F5645F5A8B8C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1322846061" sldId="272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1322846061" sldId="272"/>
            <ac:picMk id="4" creationId="{9DD91B9B-3BEC-8E6B-F9E6-C86857912225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4216201052" sldId="273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4216201052" sldId="273"/>
            <ac:picMk id="4" creationId="{8FBA7852-68C3-265F-F5FF-AF821A330992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755370315" sldId="274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755370315" sldId="274"/>
            <ac:picMk id="7" creationId="{F8413B7A-D582-381A-501B-9D61AC823380}"/>
          </ac:picMkLst>
        </pc:picChg>
      </pc:sldChg>
      <pc:sldChg chg="delSp modTransition modAnim">
        <pc:chgData name="Luay M. Assidmi" userId="6380813698af8917" providerId="LiveId" clId="{596ED143-3399-4AD2-B261-419606FDECC9}" dt="2026-09-29T06:09:14.440" v="0"/>
        <pc:sldMkLst>
          <pc:docMk/>
          <pc:sldMk cId="738107905" sldId="275"/>
        </pc:sldMkLst>
        <pc:picChg chg="del">
          <ac:chgData name="Luay M. Assidmi" userId="6380813698af8917" providerId="LiveId" clId="{596ED143-3399-4AD2-B261-419606FDECC9}" dt="2026-09-29T06:09:14.440" v="0"/>
          <ac:picMkLst>
            <pc:docMk/>
            <pc:sldMk cId="738107905" sldId="275"/>
            <ac:picMk id="11" creationId="{5BB0DACE-EB7C-9F3A-8DF0-892524884BF8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76A6-0882-AE1B-CCEF-9B0C62034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6B3B5-9D7E-4AB6-3B88-CEC3E746A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ACF38-818E-8FA4-1B93-E9F3F756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CC567-D54A-C824-46D3-DC2BBF4F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C734A-2D4C-AEC5-B1AA-CC673B5D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6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F8C2-4584-B258-0A27-574DA31F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6786E-90AA-E543-9DD0-051C22EC6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CF298-0FAD-8C3E-C2A1-A792F542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FAE1F-2250-90D5-A225-ACE43A94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3CCC9-33BC-779A-7ADC-BD952132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0B00-0683-523A-D29C-EDA9FFEF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EECEC-8A61-C591-1483-309A8BFB4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E43E5-FEC3-4874-68D3-B9CF6A656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8248F-25ED-28B5-C118-AD2B3995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CD4C6-062B-B9E3-D54F-0E271766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37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3ED97-EF2F-D0A4-C88C-35901990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C197-52AA-1595-05AB-084726F6F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D295D-ACA8-A421-5C42-B75BC30F6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FFDAC-303C-B973-6E2D-36FD3F02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5D997-7FA8-69A1-D2F7-DFF4AF4C5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AD55C-AD1A-01DB-D9C0-AE1E16CF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0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2F19-FF80-F470-3159-DCAAD670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B6B4-9B73-0318-C15A-FE3ED9ED6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30C64-0548-C9FF-10DE-75FE92289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E450-4B52-493D-6B21-1E7E8B702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870B8-C8F7-10B9-607A-DCC318C2A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5D562-96C2-4DDC-368A-A268F1829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7D40B-B9A7-6E66-978C-EDE41895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425E6-97FC-C37E-2A46-876B5338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7167-C1B9-EE54-5B79-24F513EB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B24D9-D2A8-CF38-C9F8-D8DE139B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9613E3-23F7-72A9-78C2-62851F72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F9894-00C1-D6E0-748C-6D5E9C17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7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BD06C-8BB7-2F86-BF8B-99EE7115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A65CC2-99D0-4ADF-4002-B0C57FFF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CA728-B182-D5E9-E03C-806E7872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5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41989-FA4C-0980-2543-125D4F56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6C03A-0A7F-1BD7-E265-A72DBC24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17E95-3857-E3F7-42A4-F27FAB26A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4F61D-C517-439F-2E14-15498CC8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C719F-16C6-981A-0BCD-B96DCC1C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F4168-725C-F7A2-E90A-D6897CA3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0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440D-5D92-D5B1-205F-2BA0087A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1CCA8-B723-E12E-2A03-0648CFCA8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F3A38-50BB-3881-90D8-71B3A7A94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9EDF1-68BA-6855-110D-BC8717A87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A8B1B-716D-2360-56FC-6907DDEE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DA2B3-BF58-CA25-540C-811D06C2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8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CD77-BDBA-79B1-617E-F7B97AEE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53353-8768-2837-EB5C-54703F022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65568-50B9-0A46-6F90-94818545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249EB-2278-5AC9-9E52-E601087B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50FD1-65C5-F3CD-4670-AFA95A6E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3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83A86E-953A-F19D-AA06-33BF3E2CD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C7E6D-E4B1-AB3F-7FCA-EAD9A0C6C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B16CA-AB4D-AA27-6437-C9CABA3A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11CAE-7595-0554-AF12-81CD52C9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9CCF-712E-C9C7-CC89-9E17C534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3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05D31-EBEA-F08E-FBA1-1435DF29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36684-CCA5-623F-1E79-DD137DF5E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5A366-94A2-4831-7A81-9893CD757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27CFC-C8BD-43F2-A47D-413534A4193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6FF3A-1438-0872-45E2-F0617C642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03357-9110-4EC0-7BD6-6852F8B9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5AF49-1BB8-420B-B26D-05B27CCB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1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3BE6-607C-D085-C644-E08EB42A1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Pattern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10230-A6EB-8B13-D326-2EC18A351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499713"/>
          </a:xfrm>
        </p:spPr>
        <p:txBody>
          <a:bodyPr>
            <a:normAutofit/>
          </a:bodyPr>
          <a:lstStyle/>
          <a:p>
            <a:r>
              <a:rPr lang="en-US" dirty="0"/>
              <a:t>Luay M. Assidmi</a:t>
            </a:r>
          </a:p>
          <a:p>
            <a:r>
              <a:rPr lang="en-US" dirty="0"/>
              <a:t>September 29, 2026</a:t>
            </a:r>
          </a:p>
          <a:p>
            <a:r>
              <a:rPr lang="en-US" dirty="0"/>
              <a:t>Ontology and Intel Analysis </a:t>
            </a:r>
          </a:p>
          <a:p>
            <a:r>
              <a:rPr i="1">
                <a:solidFill>
                  <a:srgbClr val="C00000"/>
                </a:solidFill>
              </a:rPr>
              <a:t>Revised October 17, 2026: proposal re-examined against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2557947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C3ADB-E7B1-5ACD-F6E3-03529D88B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Final Project Topic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10922-7402-39F9-08AC-EB7A5DF91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345358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C102AB-1AD3-173A-DC36-DF9962BD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Meetings?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44A945-9826-87C9-0A70-480B8E7C5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Meeting presentations and meeting minutes are our main target. </a:t>
            </a:r>
          </a:p>
          <a:p>
            <a:pPr lvl="1"/>
            <a:r>
              <a:rPr lang="en-US" dirty="0"/>
              <a:t>They are abundance, </a:t>
            </a:r>
          </a:p>
          <a:p>
            <a:pPr lvl="1"/>
            <a:r>
              <a:rPr lang="en-US" dirty="0"/>
              <a:t>they are engineered knowledge for humans to consume, </a:t>
            </a:r>
          </a:p>
          <a:p>
            <a:pPr lvl="1"/>
            <a:r>
              <a:rPr lang="en-US" dirty="0"/>
              <a:t>they proved context, and provenance, and traceability 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Our aim is to build institutional knowledge extracting pipeline that accumulates future intelligence and connect, archive and retrieve legacy tacit knowledge.</a:t>
            </a:r>
          </a:p>
          <a:p>
            <a:r>
              <a:rPr lang="en-US" dirty="0"/>
              <a:t>How:</a:t>
            </a:r>
          </a:p>
          <a:p>
            <a:pPr lvl="1"/>
            <a:r>
              <a:rPr lang="en-US" dirty="0"/>
              <a:t>we want to engineer that presentation and meeting minutes (which concretize meta data and action speak [mandate]) for machines to consume.</a:t>
            </a:r>
          </a:p>
          <a:p>
            <a:r>
              <a:rPr lang="en-US" dirty="0"/>
              <a:t>Ensuring:</a:t>
            </a:r>
          </a:p>
          <a:p>
            <a:pPr lvl="1"/>
            <a:r>
              <a:rPr lang="en-US" dirty="0"/>
              <a:t>Data quality while extracting intelligence</a:t>
            </a:r>
          </a:p>
          <a:p>
            <a:pPr lvl="1"/>
            <a:r>
              <a:rPr lang="en-US" dirty="0"/>
              <a:t>Data interoperability between projects, initiatives, and programs across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755370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4983-8620-DA8B-1065-6B5D0C73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process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4E07-CB84-4912-7614-1FAE678D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My own definition in words (no BFO/CCO lenses)</a:t>
            </a:r>
          </a:p>
          <a:p>
            <a:r>
              <a:rPr lang="en-US" dirty="0"/>
              <a:t>Step 2: Build BPMN map</a:t>
            </a:r>
          </a:p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</a:rPr>
              <a:t>Following steps are Co-authored with Design Pattern Assistant</a:t>
            </a:r>
            <a:r>
              <a:rPr lang="en-US" sz="1200" i="1" dirty="0">
                <a:solidFill>
                  <a:srgbClr val="C00000"/>
                </a:solidFill>
              </a:rPr>
              <a:t>(1)</a:t>
            </a:r>
            <a:r>
              <a:rPr lang="en-US" i="1" dirty="0">
                <a:solidFill>
                  <a:srgbClr val="C00000"/>
                </a:solidFill>
              </a:rPr>
              <a:t> (AI)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Step 3: Apply rules of Thumb </a:t>
            </a:r>
          </a:p>
          <a:p>
            <a:r>
              <a:rPr lang="en-US" dirty="0"/>
              <a:t>Step 4: Lookup BFO/CCO lenses on to build Design pattern </a:t>
            </a:r>
          </a:p>
          <a:p>
            <a:r>
              <a:rPr lang="en-US" dirty="0"/>
              <a:t>Step 5: Pattern Design workshop Mermaid Draw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EF458-8E55-A5B1-C714-04B2614813EF}"/>
              </a:ext>
            </a:extLst>
          </p:cNvPr>
          <p:cNvSpPr/>
          <p:nvPr/>
        </p:nvSpPr>
        <p:spPr>
          <a:xfrm>
            <a:off x="695864" y="6274279"/>
            <a:ext cx="11432876" cy="3335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(1) Design Pattern Assistant is an agent that is trained on BFO and CCO, it’s job it identify and re-use entity classification and relationships. A sample of their assistant will be provided in markdown files</a:t>
            </a:r>
          </a:p>
        </p:txBody>
      </p:sp>
    </p:spTree>
    <p:extLst>
      <p:ext uri="{BB962C8B-B14F-4D97-AF65-F5344CB8AC3E}">
        <p14:creationId xmlns:p14="http://schemas.microsoft.com/office/powerpoint/2010/main" val="115847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2D144-8298-453C-22A0-B7CFF264F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DE8E-ABD9-986A-677C-26ED025A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My own definition,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AB32A-F6AB-F65E-61F0-4A1D52CC1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914400"/>
          </a:xfrm>
        </p:spPr>
        <p:txBody>
          <a:bodyPr/>
          <a:lstStyle/>
          <a:p>
            <a:pPr/>
            <a:r>
              <a:rPr sz="1800" b="1">
                <a:solidFill>
                  <a:srgbClr val="C00000"/>
                </a:solidFill>
              </a:rPr>
              <a:t>v1:  </a:t>
            </a:r>
            <a:r>
              <a:rPr sz="1800" b="0"/>
              <a:t>A Meeting is a type of human gathering (online/in person) for a determined period of time to address a topic(s) and make decisions (mandates)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377440"/>
          <a:ext cx="11064240" cy="3401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3566160"/>
                <a:gridCol w="43891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Test (Military Intelligence Pt. 1)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Counterexample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Term true, definition false (sl. 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A status briefing where nothing is decided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</a:rPr>
                        <a:t>Fails: </a:t>
                      </a:r>
                      <a:r>
                        <a:rPr sz="1400" b="0">
                          <a:solidFill>
                            <a:srgbClr val="1F1F1F"/>
                          </a:solidFill>
                        </a:rPr>
                        <a:t>"make decisions" isn't true of every meeting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Term true, definition false (sl. 5)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An unscheduled 5-minute corridor huddle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</a:rPr>
                        <a:t>Fails: </a:t>
                      </a:r>
                      <a:r>
                        <a:rPr sz="1400" b="0">
                          <a:solidFill>
                            <a:srgbClr val="1F1F1F"/>
                          </a:solidFill>
                        </a:rPr>
                        <a:t>"a determined period of time" isn't either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Definition true, term false (sl. 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A family at dinner deciding on a holiday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</a:rPr>
                        <a:t>Too broad: </a:t>
                      </a:r>
                      <a:r>
                        <a:rPr sz="1400" b="0">
                          <a:solidFill>
                            <a:srgbClr val="1F1F1F"/>
                          </a:solidFill>
                        </a:rPr>
                        <a:t>nothing requires a planned act or common purpose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Avoid negative language (sl. 12–27)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</a:rPr>
                        <a:t>Passes. </a:t>
                      </a:r>
                      <a:r>
                        <a:rPr sz="1400" b="0">
                          <a:solidFill>
                            <a:srgbClr val="1F1F1F"/>
                          </a:solidFill>
                        </a:rPr>
                        <a:t>Keep it that way: define a subtype, not a "non-decision meeting"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Word-to-world (sl. 30–32)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</a:rPr>
                        <a:t>"make decisions (mandates)"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</a:rPr>
                        <a:t>Conflates </a:t>
                      </a:r>
                      <a:r>
                        <a:rPr sz="1400" b="0">
                          <a:solidFill>
                            <a:srgbClr val="1F1F1F"/>
                          </a:solidFill>
                        </a:rPr>
                        <a:t>an act (deciding) with its output (the mandate)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A definition is a pair &lt;T, E&gt;: T is true of a domain just in case E is (Military Intelligence Part 1, slide 4).</a:t>
            </a:r>
          </a:p>
        </p:txBody>
      </p:sp>
    </p:spTree>
    <p:extLst>
      <p:ext uri="{BB962C8B-B14F-4D97-AF65-F5344CB8AC3E}">
        <p14:creationId xmlns:p14="http://schemas.microsoft.com/office/powerpoint/2010/main" val="341404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F2C37-712D-A59A-6C2F-C44F129F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7297-1C8F-01C1-473B-708F40C0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Build BPMN map (two acts, not one)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1F50F2-0671-8983-527A-CEF85B0D3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46" y="1339970"/>
            <a:ext cx="12029707" cy="49285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24927" y="4873752"/>
            <a:ext cx="1060704" cy="877824"/>
          </a:xfrm>
          <a:prstGeom prst="roundRect">
            <a:avLst/>
          </a:prstGeom>
          <a:noFill/>
          <a:ln w="444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25128" y="4873752"/>
            <a:ext cx="1060704" cy="877824"/>
          </a:xfrm>
          <a:prstGeom prst="roundRect">
            <a:avLst/>
          </a:prstGeom>
          <a:noFill/>
          <a:ln w="444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C55A11"/>
                </a:solidFill>
              </a:rPr>
              <a:t>Speech act</a:t>
            </a:r>
          </a:p>
          <a:p>
            <a:pPr algn="l"/>
            <a:r>
              <a:rPr sz="1100" b="0">
                <a:solidFill>
                  <a:srgbClr val="1F1F1F"/>
                </a:solidFill>
              </a:rPr>
              <a:t>Creates the obligation. Felicity condition: the chair bears the authority (Document Acts, pp. 9–10)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926080"/>
            <a:ext cx="26974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F4E79"/>
                </a:solidFill>
              </a:rPr>
              <a:t>Document act</a:t>
            </a:r>
          </a:p>
          <a:p>
            <a:pPr algn="l"/>
            <a:r>
              <a:rPr sz="1100" b="0">
                <a:solidFill>
                  <a:srgbClr val="1F1F1F"/>
                </a:solidFill>
              </a:rPr>
              <a:t>Makes the obligation official and lasting, beyond the memory of those in the room (Document Acts, pp. 6, 9)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79" y="4251960"/>
            <a:ext cx="0" cy="621792"/>
          </a:xfrm>
          <a:prstGeom prst="line">
            <a:avLst/>
          </a:prstGeom>
          <a:ln w="254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55480" y="4251960"/>
            <a:ext cx="0" cy="62179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84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59AA-D245-CDBB-A700-4624362E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Apply rules of Thumb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3F756-326C-E450-E832-F38EE3083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Slot 1: Material Entity</a:t>
            </a:r>
          </a:p>
          <a:p>
            <a:r>
              <a:rPr lang="en-US" dirty="0"/>
              <a:t>Slot 2: Quality</a:t>
            </a:r>
          </a:p>
          <a:p>
            <a:r>
              <a:rPr lang="en-US" dirty="0"/>
              <a:t>Slot 3: Process</a:t>
            </a:r>
          </a:p>
          <a:p>
            <a:r>
              <a:rPr lang="en-US" dirty="0"/>
              <a:t>Slot 4: Realizable Entity</a:t>
            </a:r>
          </a:p>
          <a:p>
            <a:r>
              <a:rPr lang="en-US" dirty="0"/>
              <a:t>Slot 5: Where</a:t>
            </a:r>
          </a:p>
          <a:p>
            <a:r>
              <a:rPr lang="en-US" dirty="0"/>
              <a:t>Slot 6: When</a:t>
            </a:r>
          </a:p>
          <a:p>
            <a:r>
              <a:rPr lang="en-US" dirty="0"/>
              <a:t>Slot 7: Information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9AE12-F99A-226A-E67E-459404A26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893" y="1225176"/>
            <a:ext cx="4545107" cy="5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9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1E67-381E-E27E-853C-F2760F29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4: Lookup BFO/CCO lenses on to build Design pattern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486D9-12E7-7F2C-028D-30179991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497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Every term below was looked up in the index built from </a:t>
            </a:r>
            <a:r>
              <a:rPr lang="en-US" sz="2000" b="1" dirty="0"/>
              <a:t>CCO v2.2 (2026-08-13)</a:t>
            </a:r>
            <a:r>
              <a:rPr lang="en-US" sz="2000" dirty="0"/>
              <a:t>, which includes BFO 2020. </a:t>
            </a:r>
          </a:p>
          <a:p>
            <a:r>
              <a:rPr lang="en-US" sz="2000" b="1" dirty="0"/>
              <a:t>Marks:</a:t>
            </a:r>
            <a:r>
              <a:rPr lang="en-US" sz="2000" dirty="0"/>
              <a:t> ✓ exact CCO match · ~ near match ·  </a:t>
            </a:r>
          </a:p>
          <a:p>
            <a:pPr lvl="1"/>
            <a:r>
              <a:rPr lang="en-US" sz="1600" dirty="0"/>
              <a:t>proposed new term · </a:t>
            </a:r>
            <a:r>
              <a:rPr lang="en-US" sz="1600" b="1" dirty="0"/>
              <a:t>— stays at BFO</a:t>
            </a:r>
            <a:r>
              <a:rPr lang="en-US" sz="1600" dirty="0"/>
              <a:t> means CCO has nothing and the pattern doesn't need anything more specific</a:t>
            </a:r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95CB34-2D66-137C-56D8-36132FC84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329" y="1028496"/>
            <a:ext cx="4655671" cy="582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1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0113-6AD7-22BE-28C3-7D122326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E9EA-79AF-93CD-6609-9FD202798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5 the workshop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A16AB-0407-300A-15FC-B73490947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4897" cy="4351338"/>
          </a:xfrm>
        </p:spPr>
        <p:txBody>
          <a:bodyPr/>
          <a:lstStyle/>
          <a:p>
            <a:r>
              <a:rPr lang="en-US" dirty="0"/>
              <a:t>We (DPA and I) take the inputs from Steps 3, 4</a:t>
            </a:r>
          </a:p>
          <a:p>
            <a:r>
              <a:rPr lang="en-US" dirty="0"/>
              <a:t>Conduct a workshop to build the design pattern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8621FF-6FAC-7D7C-B982-33BFB572B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103" y="0"/>
            <a:ext cx="5664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07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7EF5-4C00-C4AB-DFB1-07F5AA4D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DF5792-17B2-9A45-020C-7BC622D71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3" y="1283746"/>
            <a:ext cx="12119367" cy="5546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81D24D-23C7-02E4-1F29-1D196961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5 Workshop result: Mermaid (v1)</a:t>
            </a:r>
          </a:p>
        </p:txBody>
      </p:sp>
    </p:spTree>
    <p:extLst>
      <p:ext uri="{BB962C8B-B14F-4D97-AF65-F5344CB8AC3E}">
        <p14:creationId xmlns:p14="http://schemas.microsoft.com/office/powerpoint/2010/main" val="4216201052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revised: v2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6035040" cy="4846320"/>
          </a:xfrm>
        </p:spPr>
        <p:txBody>
          <a:bodyPr/>
          <a:lstStyle/>
          <a:p>
            <a:pPr/>
            <a:r>
              <a:rPr sz="1800" b="1"/>
              <a:t>Meeting</a:t>
            </a:r>
            <a:r>
              <a:rPr sz="1800" b="0"/>
              <a:t> =def an act of association in which two or more persons, sharing a place or connected through a communication artifact, communicate about one or more topics for a common purpose</a:t>
            </a:r>
          </a:p>
          <a:p>
            <a:pPr/>
            <a:r>
              <a:rPr sz="1800" b="1"/>
              <a:t>Decision meeting</a:t>
            </a:r>
            <a:r>
              <a:rPr sz="1800" b="0"/>
              <a:t> =def a meeting that has as part an act of directive communication, by a person bearing an authority role, whose output is a mandate</a:t>
            </a:r>
          </a:p>
          <a:p>
            <a:pPr/>
            <a:r>
              <a:rPr sz="1800" b="1"/>
              <a:t>Mandate</a:t>
            </a:r>
            <a:r>
              <a:rPr sz="1800" b="0"/>
              <a:t> =def a process regulation that is the output of an act of directive communication in a meeting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463040"/>
          <a:ext cx="4846320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/>
                <a:gridCol w="1005840"/>
                <a:gridCol w="11887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Meeting?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Decision mtg?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Status briefing, nothing decided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✗ (correct)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Corridor huddle that settles an issue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Family dinner deciding a holiday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Board meeting, chair issues a directive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What changed: genus from CCO Act of Meeting ("…assemble for some common purpose"). "Determined period" dropped: every meeting takes time, but not every one is scheduled. Deciding moved to a subtype, so the class is split from the inside with no negative definition (sl. 21–24).
Open: "common purpose" carries a lot of weight.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revisited: speech act vs. document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5120640" cy="4937760"/>
          </a:xfrm>
        </p:spPr>
        <p:txBody>
          <a:bodyPr/>
          <a:lstStyle/>
          <a:p>
            <a:pPr/>
            <a:r>
              <a:rPr sz="1600" b="1">
                <a:solidFill>
                  <a:srgbClr val="C00000"/>
                </a:solidFill>
              </a:rPr>
              <a:t>v1 problem: </a:t>
            </a:r>
            <a:r>
              <a:rPr sz="1600" b="0"/>
              <a:t>one node, "deciding", did two jobs. The BPMN already had two tasks</a:t>
            </a:r>
          </a:p>
          <a:p>
            <a:pPr/>
            <a:r>
              <a:rPr sz="1600" b="1">
                <a:solidFill>
                  <a:srgbClr val="C55A11"/>
                </a:solidFill>
              </a:rPr>
              <a:t>Speech act: </a:t>
            </a:r>
            <a:r>
              <a:rPr sz="1600" b="0"/>
              <a:t>cco:Act of Directive Communication realizes the Authority Role and outputs the mandate</a:t>
            </a:r>
          </a:p>
          <a:p>
            <a:pPr/>
            <a:r>
              <a:rPr sz="1600" b="1">
                <a:solidFill>
                  <a:srgbClr val="1F4E79"/>
                </a:solidFill>
              </a:rPr>
              <a:t>Document act: </a:t>
            </a:r>
            <a:r>
              <a:rPr sz="1600" b="0"/>
              <a:t>cco:Act of Official Documentation outputs the minutes file, which carries the minutes; the mandate is part of them</a:t>
            </a:r>
          </a:p>
          <a:p>
            <a:pPr/>
            <a:r>
              <a:rPr sz="1600" b="1"/>
              <a:t>Identifier: </a:t>
            </a:r>
            <a:r>
              <a:rPr sz="1600" b="0"/>
              <a:t>"M06 v1.1" designates the mandate, and the same ID links minutes, letters and trackers (Document Acts, p. 10)</a:t>
            </a:r>
          </a:p>
          <a:p>
            <a:pPr/>
            <a:r>
              <a:rPr sz="1600" b="1"/>
              <a:t>Lint: </a:t>
            </a:r>
            <a:r>
              <a:rPr sz="1600" b="0"/>
              <a:t>PASS, 0 errors, 3 warnings (justified)</a:t>
            </a:r>
          </a:p>
        </p:txBody>
      </p:sp>
      <p:pic>
        <p:nvPicPr>
          <p:cNvPr id="4" name="Picture 3" descr="pattern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391243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Identifiers reveal recurrence</a:t>
            </a:r>
          </a:p>
        </p:txBody>
      </p:sp>
      <p:pic>
        <p:nvPicPr>
          <p:cNvPr id="3" name="Picture 2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95805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526280"/>
          <a:ext cx="11064240" cy="1645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4880"/>
                <a:gridCol w="6309360"/>
              </a:tblGrid>
              <a:tr h="54863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Document Acts (p. 10)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 this pattern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Tracking numbers and VINs create "virtual attachment between documents via cross-referencing"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 mandate ID (M06) appears in the minutes, a follow-up letter and a tracker: three documents, one mandate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The document's identifiers support knowledge by comparison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Comparing M06 v1.0 with v1.1 shows the chair raised it twice, with more asked the second time. Each version is a distinct mandate, linked by precedes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Synthetic data. The real programme file is internal and is not published.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Engineering aligned to IAO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0">
                <a:solidFill>
                  <a:srgbClr val="1F1F1F"/>
                </a:solidFill>
              </a:rPr>
              <a:t>CCO is imported; IAO is aligned (skos:closeMatch), not imported, so there is never a second "document" class. Following IAO-Intel, each file type is populated downward from IAO.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867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/>
                <a:gridCol w="1371600"/>
                <a:gridCol w="3931920"/>
                <a:gridCol w="3108960"/>
              </a:tblGrid>
              <a:tr h="4297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File element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Source label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IAO class (aligned)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CCO class (used)</a:t>
                      </a:r>
                    </a:p>
                  </a:txBody>
                  <a:tcPr marL="73152" marR="73152" marT="36576" marB="36576" anchor="ctr">
                    <a:solidFill>
                      <a:srgbClr val="262626"/>
                    </a:solidFill>
                  </a:tcPr>
                </a:tc>
              </a:tr>
              <a:tr h="4297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Priority file (dossier)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ملف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document  IAO_0000310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Information Content Entity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Meeting presentation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عرض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document  IAO_0000310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Document Content Entity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97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Minutes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محضر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report  IAO_0000088  (exact)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Report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Official letter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خطاب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document  IAO_0000310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Document Content Entity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97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Directive / mandate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توجيه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directive information entity  IAO_0000033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Process Regulation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Recording the decision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توثيق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documenting  IAO_0000572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Act of Official Documentation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97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Mandate ID + version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M06 v1.1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identifier  IAO_0020000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Non-Name Identifier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Executive priority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أولوية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objective specification  IAO_0000005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People stay in CCO (IAO covers information only). IAO's version number is defined for manufactured products, so versions are part of the identifier instead. Precedent: IAO-Intel sets Intelligence Report under IAO Report (Smith et al., Table 1).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material applied in this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/>
              <a:t>Beverley, Intelligence Analysis: Military Intelligence Part 1</a:t>
            </a:r>
            <a:r>
              <a:rPr sz="1700" b="0"/>
              <a:t>: definitions as &lt;T, E&gt;, two-way counterexample tests, negative language, word-to-world fit → Step 1</a:t>
            </a:r>
          </a:p>
          <a:p>
            <a:pPr/>
            <a:r>
              <a:rPr sz="1700" b="1"/>
              <a:t>Smith, Document Acts</a:t>
            </a:r>
            <a:r>
              <a:rPr sz="1700" b="0"/>
              <a:t> (week 3): "to record" (p. 6); felicity conditions and documents as enduring deontic power (pp. 9–10); identifiers and knowledge by comparison (p. 10) → Steps 2 and 5</a:t>
            </a:r>
          </a:p>
          <a:p>
            <a:pPr/>
            <a:r>
              <a:rPr sz="1700" b="1"/>
              <a:t>Smith et al., IAO-Intel</a:t>
            </a:r>
            <a:r>
              <a:rPr sz="1700" b="0"/>
              <a:t> (week 3): downward population from document typologies; incremental coverage → File Engineering alignment</a:t>
            </a:r>
          </a:p>
          <a:p>
            <a:pPr/>
            <a:r>
              <a:rPr sz="1700" b="1"/>
              <a:t>CCO v2.2 and IAO</a:t>
            </a:r>
            <a:r>
              <a:rPr sz="1700" b="0"/>
              <a:t>: every term checked against the source files, with IRIs in the repository write-up</a:t>
            </a:r>
          </a:p>
          <a:p>
            <a:pPr/>
            <a:r>
              <a:rPr sz="1700" b="1">
                <a:solidFill>
                  <a:srgbClr val="C00000"/>
                </a:solidFill>
              </a:rPr>
              <a:t>Next: </a:t>
            </a:r>
            <a:r>
              <a:rPr sz="1700" b="0"/>
              <a:t>implement the pattern in OWL (.ttl), test it with the reasoner and the competency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421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Design Pattern Final Project</vt:lpstr>
      <vt:lpstr>Proposed Final Project Topic</vt:lpstr>
      <vt:lpstr>Why Meetings?</vt:lpstr>
      <vt:lpstr>Design process method</vt:lpstr>
      <vt:lpstr>Step 1: My own definition in words</vt:lpstr>
      <vt:lpstr>Step 2: Build BPMN map</vt:lpstr>
      <vt:lpstr>Step 3: Apply rules of Thumb </vt:lpstr>
      <vt:lpstr>Step 4: Lookup BFO/CCO lenses on to build Design pattern </vt:lpstr>
      <vt:lpstr>Steps 5 the workshop</vt:lpstr>
      <vt:lpstr>Steps 5 Workshop result: Mermaid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Luay M. Assidmi</dc:creator>
  <cp:lastModifiedBy>Luay M. Assidmi</cp:lastModifiedBy>
  <cp:revision>3</cp:revision>
  <dcterms:created xsi:type="dcterms:W3CDTF">2026-09-18T09:58:53Z</dcterms:created>
  <dcterms:modified xsi:type="dcterms:W3CDTF">2026-09-29T06:09:19Z</dcterms:modified>
</cp:coreProperties>
</file>