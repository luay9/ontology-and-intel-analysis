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6" r:id="rId3"/>
    <p:sldId id="274" r:id="rId4"/>
    <p:sldId id="259" r:id="rId5"/>
    <p:sldId id="271" r:id="rId6"/>
    <p:sldId id="276" r:id="rId7"/>
    <p:sldId id="272" r:id="rId8"/>
    <p:sldId id="263" r:id="rId9"/>
    <p:sldId id="264" r:id="rId10"/>
    <p:sldId id="275" r:id="rId11"/>
    <p:sldId id="273" r:id="rId12"/>
    <p:sldId id="277" r:id="rId13"/>
    <p:sldId id="278" r:id="rId14"/>
    <p:sldId id="279" r:id="rId15"/>
    <p:sldId id="28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409325D-26C1-4B45-87E3-36A43D90B3A1}" v="1" dt="2026-09-29T06:09:14.4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06" autoAdjust="0"/>
    <p:restoredTop sz="94660"/>
  </p:normalViewPr>
  <p:slideViewPr>
    <p:cSldViewPr snapToGrid="0">
      <p:cViewPr varScale="1">
        <p:scale>
          <a:sx n="74" d="100"/>
          <a:sy n="74" d="100"/>
        </p:scale>
        <p:origin x="39" y="17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ay M. Assidmi" userId="6380813698af8917" providerId="LiveId" clId="{596ED143-3399-4AD2-B261-419606FDECC9}"/>
    <pc:docChg chg="modSld">
      <pc:chgData name="Luay M. Assidmi" userId="6380813698af8917" providerId="LiveId" clId="{596ED143-3399-4AD2-B261-419606FDECC9}" dt="2026-09-29T06:09:14.440" v="0"/>
      <pc:docMkLst>
        <pc:docMk/>
      </pc:docMkLst>
      <pc:sldChg chg="delSp modTransition modAnim">
        <pc:chgData name="Luay M. Assidmi" userId="6380813698af8917" providerId="LiveId" clId="{596ED143-3399-4AD2-B261-419606FDECC9}" dt="2026-09-29T06:09:14.440" v="0"/>
        <pc:sldMkLst>
          <pc:docMk/>
          <pc:sldMk cId="2557947587" sldId="256"/>
        </pc:sldMkLst>
        <pc:picChg chg="del">
          <ac:chgData name="Luay M. Assidmi" userId="6380813698af8917" providerId="LiveId" clId="{596ED143-3399-4AD2-B261-419606FDECC9}" dt="2026-09-29T06:09:14.440" v="0"/>
          <ac:picMkLst>
            <pc:docMk/>
            <pc:sldMk cId="2557947587" sldId="256"/>
            <ac:picMk id="31" creationId="{3A8B5624-5F81-3C32-4E1C-6F768EC175DF}"/>
          </ac:picMkLst>
        </pc:picChg>
      </pc:sldChg>
      <pc:sldChg chg="delSp modTransition modAnim">
        <pc:chgData name="Luay M. Assidmi" userId="6380813698af8917" providerId="LiveId" clId="{596ED143-3399-4AD2-B261-419606FDECC9}" dt="2026-09-29T06:09:14.440" v="0"/>
        <pc:sldMkLst>
          <pc:docMk/>
          <pc:sldMk cId="1158472534" sldId="259"/>
        </pc:sldMkLst>
        <pc:picChg chg="del">
          <ac:chgData name="Luay M. Assidmi" userId="6380813698af8917" providerId="LiveId" clId="{596ED143-3399-4AD2-B261-419606FDECC9}" dt="2026-09-29T06:09:14.440" v="0"/>
          <ac:picMkLst>
            <pc:docMk/>
            <pc:sldMk cId="1158472534" sldId="259"/>
            <ac:picMk id="6" creationId="{2C41403E-D38F-5874-0219-C95A6754D53F}"/>
          </ac:picMkLst>
        </pc:picChg>
      </pc:sldChg>
      <pc:sldChg chg="delSp modTransition modAnim">
        <pc:chgData name="Luay M. Assidmi" userId="6380813698af8917" providerId="LiveId" clId="{596ED143-3399-4AD2-B261-419606FDECC9}" dt="2026-09-29T06:09:14.440" v="0"/>
        <pc:sldMkLst>
          <pc:docMk/>
          <pc:sldMk cId="2293090528" sldId="263"/>
        </pc:sldMkLst>
        <pc:picChg chg="del">
          <ac:chgData name="Luay M. Assidmi" userId="6380813698af8917" providerId="LiveId" clId="{596ED143-3399-4AD2-B261-419606FDECC9}" dt="2026-09-29T06:09:14.440" v="0"/>
          <ac:picMkLst>
            <pc:docMk/>
            <pc:sldMk cId="2293090528" sldId="263"/>
            <ac:picMk id="7" creationId="{3745FD49-4B83-CFA6-A010-CC750574FD22}"/>
          </ac:picMkLst>
        </pc:picChg>
      </pc:sldChg>
      <pc:sldChg chg="delSp modTransition modAnim">
        <pc:chgData name="Luay M. Assidmi" userId="6380813698af8917" providerId="LiveId" clId="{596ED143-3399-4AD2-B261-419606FDECC9}" dt="2026-09-29T06:09:14.440" v="0"/>
        <pc:sldMkLst>
          <pc:docMk/>
          <pc:sldMk cId="1016418270" sldId="264"/>
        </pc:sldMkLst>
        <pc:picChg chg="del">
          <ac:chgData name="Luay M. Assidmi" userId="6380813698af8917" providerId="LiveId" clId="{596ED143-3399-4AD2-B261-419606FDECC9}" dt="2026-09-29T06:09:14.440" v="0"/>
          <ac:picMkLst>
            <pc:docMk/>
            <pc:sldMk cId="1016418270" sldId="264"/>
            <ac:picMk id="10" creationId="{19ADA60F-3EB1-273F-2D46-D9D8533EA863}"/>
          </ac:picMkLst>
        </pc:picChg>
      </pc:sldChg>
      <pc:sldChg chg="delSp modTransition modAnim">
        <pc:chgData name="Luay M. Assidmi" userId="6380813698af8917" providerId="LiveId" clId="{596ED143-3399-4AD2-B261-419606FDECC9}" dt="2026-09-29T06:09:14.440" v="0"/>
        <pc:sldMkLst>
          <pc:docMk/>
          <pc:sldMk cId="3453587714" sldId="266"/>
        </pc:sldMkLst>
        <pc:picChg chg="del">
          <ac:chgData name="Luay M. Assidmi" userId="6380813698af8917" providerId="LiveId" clId="{596ED143-3399-4AD2-B261-419606FDECC9}" dt="2026-09-29T06:09:14.440" v="0"/>
          <ac:picMkLst>
            <pc:docMk/>
            <pc:sldMk cId="3453587714" sldId="266"/>
            <ac:picMk id="5" creationId="{DD873445-02BC-8DBC-3F02-10D24367C449}"/>
          </ac:picMkLst>
        </pc:picChg>
      </pc:sldChg>
      <pc:sldChg chg="delSp modTransition modAnim">
        <pc:chgData name="Luay M. Assidmi" userId="6380813698af8917" providerId="LiveId" clId="{596ED143-3399-4AD2-B261-419606FDECC9}" dt="2026-09-29T06:09:14.440" v="0"/>
        <pc:sldMkLst>
          <pc:docMk/>
          <pc:sldMk cId="3414047541" sldId="271"/>
        </pc:sldMkLst>
        <pc:picChg chg="del">
          <ac:chgData name="Luay M. Assidmi" userId="6380813698af8917" providerId="LiveId" clId="{596ED143-3399-4AD2-B261-419606FDECC9}" dt="2026-09-29T06:09:14.440" v="0"/>
          <ac:picMkLst>
            <pc:docMk/>
            <pc:sldMk cId="3414047541" sldId="271"/>
            <ac:picMk id="5" creationId="{434EF15D-CDD6-60E9-E32C-F5645F5A8B8C}"/>
          </ac:picMkLst>
        </pc:picChg>
      </pc:sldChg>
      <pc:sldChg chg="delSp modTransition modAnim">
        <pc:chgData name="Luay M. Assidmi" userId="6380813698af8917" providerId="LiveId" clId="{596ED143-3399-4AD2-B261-419606FDECC9}" dt="2026-09-29T06:09:14.440" v="0"/>
        <pc:sldMkLst>
          <pc:docMk/>
          <pc:sldMk cId="1322846061" sldId="272"/>
        </pc:sldMkLst>
        <pc:picChg chg="del">
          <ac:chgData name="Luay M. Assidmi" userId="6380813698af8917" providerId="LiveId" clId="{596ED143-3399-4AD2-B261-419606FDECC9}" dt="2026-09-29T06:09:14.440" v="0"/>
          <ac:picMkLst>
            <pc:docMk/>
            <pc:sldMk cId="1322846061" sldId="272"/>
            <ac:picMk id="4" creationId="{9DD91B9B-3BEC-8E6B-F9E6-C86857912225}"/>
          </ac:picMkLst>
        </pc:picChg>
      </pc:sldChg>
      <pc:sldChg chg="delSp modTransition modAnim">
        <pc:chgData name="Luay M. Assidmi" userId="6380813698af8917" providerId="LiveId" clId="{596ED143-3399-4AD2-B261-419606FDECC9}" dt="2026-09-29T06:09:14.440" v="0"/>
        <pc:sldMkLst>
          <pc:docMk/>
          <pc:sldMk cId="4216201052" sldId="273"/>
        </pc:sldMkLst>
        <pc:picChg chg="del">
          <ac:chgData name="Luay M. Assidmi" userId="6380813698af8917" providerId="LiveId" clId="{596ED143-3399-4AD2-B261-419606FDECC9}" dt="2026-09-29T06:09:14.440" v="0"/>
          <ac:picMkLst>
            <pc:docMk/>
            <pc:sldMk cId="4216201052" sldId="273"/>
            <ac:picMk id="4" creationId="{8FBA7852-68C3-265F-F5FF-AF821A330992}"/>
          </ac:picMkLst>
        </pc:picChg>
      </pc:sldChg>
      <pc:sldChg chg="delSp modTransition modAnim">
        <pc:chgData name="Luay M. Assidmi" userId="6380813698af8917" providerId="LiveId" clId="{596ED143-3399-4AD2-B261-419606FDECC9}" dt="2026-09-29T06:09:14.440" v="0"/>
        <pc:sldMkLst>
          <pc:docMk/>
          <pc:sldMk cId="755370315" sldId="274"/>
        </pc:sldMkLst>
        <pc:picChg chg="del">
          <ac:chgData name="Luay M. Assidmi" userId="6380813698af8917" providerId="LiveId" clId="{596ED143-3399-4AD2-B261-419606FDECC9}" dt="2026-09-29T06:09:14.440" v="0"/>
          <ac:picMkLst>
            <pc:docMk/>
            <pc:sldMk cId="755370315" sldId="274"/>
            <ac:picMk id="7" creationId="{F8413B7A-D582-381A-501B-9D61AC823380}"/>
          </ac:picMkLst>
        </pc:picChg>
      </pc:sldChg>
      <pc:sldChg chg="delSp modTransition modAnim">
        <pc:chgData name="Luay M. Assidmi" userId="6380813698af8917" providerId="LiveId" clId="{596ED143-3399-4AD2-B261-419606FDECC9}" dt="2026-09-29T06:09:14.440" v="0"/>
        <pc:sldMkLst>
          <pc:docMk/>
          <pc:sldMk cId="738107905" sldId="275"/>
        </pc:sldMkLst>
        <pc:picChg chg="del">
          <ac:chgData name="Luay M. Assidmi" userId="6380813698af8917" providerId="LiveId" clId="{596ED143-3399-4AD2-B261-419606FDECC9}" dt="2026-09-29T06:09:14.440" v="0"/>
          <ac:picMkLst>
            <pc:docMk/>
            <pc:sldMk cId="738107905" sldId="275"/>
            <ac:picMk id="11" creationId="{5BB0DACE-EB7C-9F3A-8DF0-892524884BF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a:t>
            </a:r>
          </a:p>
          <a:p>
            <a:r>
              <a:t>Hi, I'm Luay Assidmi. This is my design pattern for the final project: meetings, and the mandates they produce.</a:t>
            </a:r>
          </a:p>
          <a:p/>
          <a:p>
            <a:r>
              <a:t>This is the deck from my first proposal, revised. I kept the original slides so you can see what I proposed, and then show where the course material changed my thinking: the definitions lecture, Document Acts, and IAO-Intel.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a:t>
            </a:r>
          </a:p>
          <a:p>
            <a:r>
              <a:t>The topic is meetings. More precisely, the decisions made in meetings, and the documents that carry those decisions afterwards.</a:t>
            </a:r>
          </a:p>
          <a:p/>
          <a:p>
            <a:r>
              <a:t>The reason this is an intelligence problem: an executive who sets priorities, a lot of information spread across many committee files, and no analytic layer connecting them. That's a strategic intelligence problem. Often nobody knows to ask what's already been said.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a:t>
            </a:r>
          </a:p>
          <a:p>
            <a:r>
              <a:t>Why meetings? Three reasons.</a:t>
            </a:r>
          </a:p>
          <a:p/>
          <a:p>
            <a:r>
              <a:t>First, there are a lot of them. Presentations and minutes are the most abundant knowledge an organization produces.</a:t>
            </a:r>
          </a:p>
          <a:p/>
          <a:p>
            <a:r>
              <a:t>Second, they're already engineered, for humans. Someone chose what goes on each slide. That gives us context, provenance and traceability for free.</a:t>
            </a:r>
          </a:p>
          <a:p/>
          <a:p>
            <a:r>
              <a:t>Third, the minutes carry action. A chair says "do this", and that becomes a mandate somebody is accountable for.</a:t>
            </a:r>
          </a:p>
          <a:p/>
          <a:p>
            <a:r>
              <a:t>The goal is to engineer those same documents for machines, so that what was said in one committee can be connected to what was said in another, without losing data quality.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a:t>
            </a:r>
          </a:p>
          <a:p>
            <a:r>
              <a:t>My method has five steps.</a:t>
            </a:r>
          </a:p>
          <a:p/>
          <a:p>
            <a:r>
              <a:t>Step 1 is my own definition in plain words, with no BFO or CCO lens. Step 2 is a BPMN process map.</a:t>
            </a:r>
          </a:p>
          <a:p/>
          <a:p>
            <a:r>
              <a:t>Steps 3 to 5 I co-author with a Design Pattern Assistant. That's an AI agent I built that looks up every BFO and CCO term in an index of the actual CCO release, and lints each pattern. Step 3 sorts entities into the seven rules-of-thumb slots, step 4 maps them to BFO and CCO, and step 5 is the workshop where we draw the pattern in Mermaid.</a:t>
            </a:r>
          </a:p>
          <a:p/>
          <a:p>
            <a:r>
              <a:t>The revision today mostly hits steps 1, 2 and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a:t>
            </a:r>
          </a:p>
          <a:p>
            <a:r>
              <a:t>Step 1. Here's my original definition: a meeting is a human gathering, online or in person, for a determined period of time, to address topics and make decisions, which I called mandates.</a:t>
            </a:r>
          </a:p>
          <a:p/>
          <a:p>
            <a:r>
              <a:t>After the Military Intelligence lecture I ran the test from slide 5. A definition is a pair: the term and the expression. Assume the term is true and look for a case where the expression isn't. Then the reverse.</a:t>
            </a:r>
          </a:p>
          <a:p/>
          <a:p>
            <a:r>
              <a:t>It fails both ways.</a:t>
            </a:r>
          </a:p>
          <a:p/>
          <a:p>
            <a:r>
              <a:t>Term true, definition false: a status briefing where nothing gets decided is still a meeting. So "make decisions" is too strong. And two directors who settle something in a five-minute corridor conversation, with nothing scheduled, also had a meeting. So "a determined period of time" is too strong.</a:t>
            </a:r>
          </a:p>
          <a:p/>
          <a:p>
            <a:r>
              <a:t>Definition true, term false: a family at dinner deciding where to go on holiday. Human gathering, a period of time, a topic, a decision. Nobody calls that a meeting. Nothing in my definition rules it out.</a:t>
            </a:r>
          </a:p>
          <a:p/>
          <a:p>
            <a:r>
              <a:t>It passes on negative language, because there are no "not" clauses.</a:t>
            </a:r>
          </a:p>
          <a:p/>
          <a:p>
            <a:r>
              <a:t>But it fails the word-to-world test in a quieter way: "make decisions (mandates)" treats an act and its output as the same thing. Deciding is something the chair does. The mandate is what that act produces.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a:t>
            </a:r>
          </a:p>
          <a:p>
            <a:r>
              <a:t>So here's version 2, as three definitions.</a:t>
            </a:r>
          </a:p>
          <a:p/>
          <a:p>
            <a:r>
              <a:t>A meeting is an act of association in which two or more persons, sharing a place or connected through a communication artifact, communicate about topics for a common purpose. The genus comes straight from CCO's Act of Meeting.</a:t>
            </a:r>
          </a:p>
          <a:p/>
          <a:p>
            <a:r>
              <a:t>A decision meeting is a meeting that has, as a part, an act of directive communication by someone with an authority role, whose output is a mandate.</a:t>
            </a:r>
          </a:p>
          <a:p/>
          <a:p>
            <a:r>
              <a:t>A mandate is the process regulation produced by that act.</a:t>
            </a:r>
          </a:p>
          <a:p/>
          <a:p>
            <a:r>
              <a:t>Two things to point out. I dropped "determined period": every meeting takes time, but not every meeting is scheduled. And I moved deciding into a subtype instead of the main definition. That splits the class from the inside, "a meeting that…", so I never need a negative class like "non-decision meeting", which the lecture warned is a false bifurcation.</a:t>
            </a:r>
          </a:p>
          <a:p/>
          <a:p>
            <a:r>
              <a:t>The table re-runs the cases. Briefing: meeting, not a decision meeting, which is correct. Huddle: both. Family dinner: not a meeting.</a:t>
            </a:r>
          </a:p>
          <a:p/>
          <a:p>
            <a:r>
              <a:t>What's still open: "common purpose" carries a lot of weight. It's CCO's wording, so I've kept it and flagged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a:t>
            </a:r>
          </a:p>
          <a:p>
            <a:r>
              <a:t>Step 2, the BPMN. The map itself hasn't changed, but reading Document Acts changed how I read it.</a:t>
            </a:r>
          </a:p>
          <a:p/>
          <a:p>
            <a:r>
              <a:t>Look at the accountable lane. There are two tasks: Make Decision, and Document Decisions. My original pattern collapsed them into one node. Barry Smith's paper explains why they're two different kinds of act.</a:t>
            </a:r>
          </a:p>
          <a:p/>
          <a:p>
            <a:r>
              <a:t>Make Decision is a speech act. It creates the obligation, but only if the felicity conditions hold, and the main one is authority. The chair has to bear the role that makes the directive binding. That's pages 9 to 10.</a:t>
            </a:r>
          </a:p>
          <a:p/>
          <a:p>
            <a:r>
              <a:t>Document Decisions is a document act. Smith's point is that in a large organization, memory can't carry obligations. Documents extend memory, and they let a deontic power reach people who weren't in the room. On page 6 he traces how "to record" shifted from bearing oral witness to producing a document. The minutes are exactly that shift.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a:t>
            </a:r>
          </a:p>
          <a:p>
            <a:r>
              <a:t>Step 3, the rules of thumb. The assistant sorts everything from my definition and the BPMN into seven slots: material entity, quality, process, realizable entity, where, when, and information.</a:t>
            </a:r>
          </a:p>
          <a:p/>
          <a:p>
            <a:r>
              <a:t>The interesting result here was that the topic is information, not a participant. It's drawn as a lane in the BPMN, but nobody performs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a:t>
            </a:r>
          </a:p>
          <a:p>
            <a:r>
              <a:t>Step 4. Every term was looked up in an index built from CCO version 2.2, which includes BFO 2020. Each one is marked: exact match, near match, or proposed new term.</a:t>
            </a:r>
          </a:p>
          <a:p/>
          <a:p>
            <a:r>
              <a:t>For the meeting pattern, every term is an existing CCO or BFO term. No new classes.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a:t>
            </a:r>
          </a:p>
          <a:p>
            <a:r>
              <a:t>Step 5 is the workshop. The assistant and I take the slot list and the term mapping, and build the pattern together, with a numbered decision log I can challenge.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a:t>
            </a:r>
          </a:p>
          <a:p>
            <a:r>
              <a:t>This is the version 1 result I presented. Act of Meeting at the top, with its agent, topic, time and place. In the middle, the act of directive communication, "deciding", which realizes the authority role and outputs the mandate, a process regulation, which requires planned work.</a:t>
            </a:r>
          </a:p>
          <a:p/>
          <a:p>
            <a:r>
              <a:t>The problem is that middle node. It's doing two jobs, and there's nothing here for the minutes at all. So the pattern can't say where a mandate lives after the meeting ends.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a:t>
            </a:r>
          </a:p>
          <a:p>
            <a:r>
              <a:t>Here's the revision.</a:t>
            </a:r>
          </a:p>
          <a:p/>
          <a:p>
            <a:r>
              <a:t>Deciding stays as an Act of Directive Communication. That's the speech act. It realizes the authority role and outputs the mandate.</a:t>
            </a:r>
          </a:p>
          <a:p/>
          <a:p>
            <a:r>
              <a:t>Then a second act, Act of Official Documentation. CCO already has this term, and it's exactly a document act: an agent records information for official use by another agent. My own workshop had used it in step 5; version 1 of the diagram just lost it. I considered Act of Reporting and rejected it, because minutes aren't just a true account. Once recorded, they're what people are held to.</a:t>
            </a:r>
          </a:p>
          <a:p/>
          <a:p>
            <a:r>
              <a:t>That act outputs the minutes file, which carries the minutes, a CCO Report. And the mandate is part of the minutes, not the same thing. That matters, because the same mandate can also appear in a follow-up letter, or next month's deck.</a:t>
            </a:r>
          </a:p>
          <a:p/>
          <a:p>
            <a:r>
              <a:t>Last, the identifier. "M06 version 1.1" is a Non-Name Identifier that designates the mandate. More on that next.</a:t>
            </a:r>
          </a:p>
          <a:p/>
          <a:p>
            <a:r>
              <a:t>I ran the linter on this: 0 errors, 3 warnings. The main warning is that CCO prefers outputs to be physical carriers. I kept the mandate as the output anyway, because CCO's own definition of process regulation says it's the output of an act that realizes an authority role.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a:t>
            </a:r>
          </a:p>
          <a:p>
            <a:r>
              <a:t>Why the identifier matters. Page 10 of Document Acts talks about knowledge by comparison. Tracking numbers and VINs create what Smith calls "virtual attachment" between documents: the same number in many documents ties them to one thing.</a:t>
            </a:r>
          </a:p>
          <a:p/>
          <a:p>
            <a:r>
              <a:t>Mandate IDs work the same way. M06 appears in the minutes, in a follow-up letter, in a tracker. Three documents, one mandate. No document has to point to another document.</a:t>
            </a:r>
          </a:p>
          <a:p/>
          <a:p>
            <a:r>
              <a:t>And comparing versions is where the intelligence is. This is synthetic data, but it has the shape of a real file. Three directives were issued twice. M06 version 1.0 asked to see the operating model. Version 1.1 asked for the gaps, the fixes, and a resubmission. The chair had to say it twice, and asked for more the second time.</a:t>
            </a:r>
          </a:p>
          <a:p/>
          <a:p>
            <a:r>
              <a:t>In the pattern, each version is a separate mandate linked by "precedes". I never overwrite version 1.0, because the fact that it had to be said twice is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a:t>
            </a:r>
          </a:p>
          <a:p>
            <a:r>
              <a:t>Last change: File Engineering, the method I use for real files, aligned to IAO.</a:t>
            </a:r>
          </a:p>
          <a:p/>
          <a:p>
            <a:r>
              <a:t>The decision is that CCO is the import and IAO is an alignment. IAO and CCO cover the same ground, so importing both would give me two competing "document" classes. Instead, each class gets a skos close-match or exact-match to its IAO counterpart, so IAO-based tools can still find the data.</a:t>
            </a:r>
          </a:p>
          <a:p/>
          <a:p>
            <a:r>
              <a:t>This follows IAO-Intel. Smith and colleagues populate downward from IAO: Intelligence Report under IAO Report, and so on through the Army report types. I do the same with an executive office's own document types. Minutes, محضر, are an exact match to IAO report, which IAO defines as the output of a documenting process. Letters and presentations sit under IAO document. The directive, توجيه, sits under directive information entity.</a:t>
            </a:r>
          </a:p>
          <a:p/>
          <a:p>
            <a:r>
              <a:t>Two limits. People stay in CCO, because IAO only covers information. And IAO's version number is defined for manufactured products, so versions live in the identifier instead.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a:t>
            </a:r>
          </a:p>
          <a:p>
            <a:r>
              <a:t>To sum up, three readings changed the proposal.</a:t>
            </a:r>
          </a:p>
          <a:p/>
          <a:p>
            <a:r>
              <a:t>The definitions lecture took my Step 1 apart and gave me three tighter definitions. Document Acts split one act into two, and added the identifier that makes recurrence visible. And IAO-Intel gave me the method for aligning my document types without importing a second ontology.</a:t>
            </a:r>
          </a:p>
          <a:p/>
          <a:p>
            <a:r>
              <a:t>Every term is checked against the CCO and IAO source files, and the IRIs are in the write-up in my GitHub folder.</a:t>
            </a:r>
          </a:p>
          <a:p/>
          <a:p>
            <a:r>
              <a:t>What's next is implementation: the pattern in OWL as a Turtle file, synthetic test data, a reasoner check, and SPARQL queries for the competency questions. For example, "which mandates has the chair had to issue more than once?" That's what turns this design pattern into the final project.</a:t>
            </a:r>
          </a:p>
          <a:p/>
          <a:p>
            <a:r>
              <a:t>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376A6-0882-AE1B-CCEF-9B0C62034B1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B56B3B5-9D7E-4AB6-3B88-CEC3E746A9A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A9ACF38-818E-8FA4-1B93-E9F3F756E0AC}"/>
              </a:ext>
            </a:extLst>
          </p:cNvPr>
          <p:cNvSpPr>
            <a:spLocks noGrp="1"/>
          </p:cNvSpPr>
          <p:nvPr>
            <p:ph type="dt" sz="half" idx="10"/>
          </p:nvPr>
        </p:nvSpPr>
        <p:spPr/>
        <p:txBody>
          <a:bodyPr/>
          <a:lstStyle/>
          <a:p>
            <a:fld id="{D1427CFC-C8BD-43F2-A47D-413534A41930}" type="datetimeFigureOut">
              <a:rPr lang="en-US" smtClean="0"/>
              <a:t>10/17/2026</a:t>
            </a:fld>
            <a:endParaRPr lang="en-US"/>
          </a:p>
        </p:txBody>
      </p:sp>
      <p:sp>
        <p:nvSpPr>
          <p:cNvPr id="5" name="Footer Placeholder 4">
            <a:extLst>
              <a:ext uri="{FF2B5EF4-FFF2-40B4-BE49-F238E27FC236}">
                <a16:creationId xmlns:a16="http://schemas.microsoft.com/office/drawing/2014/main" id="{89BCC567-D54A-C824-46D3-DC2BBF4F3A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8C734A-2D4C-AEC5-B1AA-CC673B5DCC50}"/>
              </a:ext>
            </a:extLst>
          </p:cNvPr>
          <p:cNvSpPr>
            <a:spLocks noGrp="1"/>
          </p:cNvSpPr>
          <p:nvPr>
            <p:ph type="sldNum" sz="quarter" idx="12"/>
          </p:nvPr>
        </p:nvSpPr>
        <p:spPr/>
        <p:txBody>
          <a:bodyPr/>
          <a:lstStyle/>
          <a:p>
            <a:fld id="{1825AF49-1BB8-420B-B26D-05B27CCB75CA}" type="slidenum">
              <a:rPr lang="en-US" smtClean="0"/>
              <a:t>‹#›</a:t>
            </a:fld>
            <a:endParaRPr lang="en-US"/>
          </a:p>
        </p:txBody>
      </p:sp>
    </p:spTree>
    <p:extLst>
      <p:ext uri="{BB962C8B-B14F-4D97-AF65-F5344CB8AC3E}">
        <p14:creationId xmlns:p14="http://schemas.microsoft.com/office/powerpoint/2010/main" val="8808610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85F8C2-4584-B258-0A27-574DA31F58E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B6786E-90AA-E543-9DD0-051C22EC60C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3CF298-0FAD-8C3E-C2A1-A792F5426DA6}"/>
              </a:ext>
            </a:extLst>
          </p:cNvPr>
          <p:cNvSpPr>
            <a:spLocks noGrp="1"/>
          </p:cNvSpPr>
          <p:nvPr>
            <p:ph type="dt" sz="half" idx="10"/>
          </p:nvPr>
        </p:nvSpPr>
        <p:spPr/>
        <p:txBody>
          <a:bodyPr/>
          <a:lstStyle/>
          <a:p>
            <a:fld id="{D1427CFC-C8BD-43F2-A47D-413534A41930}" type="datetimeFigureOut">
              <a:rPr lang="en-US" smtClean="0"/>
              <a:t>10/17/2026</a:t>
            </a:fld>
            <a:endParaRPr lang="en-US"/>
          </a:p>
        </p:txBody>
      </p:sp>
      <p:sp>
        <p:nvSpPr>
          <p:cNvPr id="5" name="Footer Placeholder 4">
            <a:extLst>
              <a:ext uri="{FF2B5EF4-FFF2-40B4-BE49-F238E27FC236}">
                <a16:creationId xmlns:a16="http://schemas.microsoft.com/office/drawing/2014/main" id="{B61FAE1F-2250-90D5-A225-ACE43A942B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33CCC9-33BC-779A-7ADC-BD952132176F}"/>
              </a:ext>
            </a:extLst>
          </p:cNvPr>
          <p:cNvSpPr>
            <a:spLocks noGrp="1"/>
          </p:cNvSpPr>
          <p:nvPr>
            <p:ph type="sldNum" sz="quarter" idx="12"/>
          </p:nvPr>
        </p:nvSpPr>
        <p:spPr/>
        <p:txBody>
          <a:bodyPr/>
          <a:lstStyle/>
          <a:p>
            <a:fld id="{1825AF49-1BB8-420B-B26D-05B27CCB75CA}" type="slidenum">
              <a:rPr lang="en-US" smtClean="0"/>
              <a:t>‹#›</a:t>
            </a:fld>
            <a:endParaRPr lang="en-US"/>
          </a:p>
        </p:txBody>
      </p:sp>
    </p:spTree>
    <p:extLst>
      <p:ext uri="{BB962C8B-B14F-4D97-AF65-F5344CB8AC3E}">
        <p14:creationId xmlns:p14="http://schemas.microsoft.com/office/powerpoint/2010/main" val="18374491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3D0B00-0683-523A-D29C-EDA9FFEF93C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A8EECEC-8A61-C591-1483-309A8BFB43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E3E43E5-FEC3-4874-68D3-B9CF6A65638F}"/>
              </a:ext>
            </a:extLst>
          </p:cNvPr>
          <p:cNvSpPr>
            <a:spLocks noGrp="1"/>
          </p:cNvSpPr>
          <p:nvPr>
            <p:ph type="dt" sz="half" idx="10"/>
          </p:nvPr>
        </p:nvSpPr>
        <p:spPr/>
        <p:txBody>
          <a:bodyPr/>
          <a:lstStyle/>
          <a:p>
            <a:fld id="{D1427CFC-C8BD-43F2-A47D-413534A41930}" type="datetimeFigureOut">
              <a:rPr lang="en-US" smtClean="0"/>
              <a:t>10/17/2026</a:t>
            </a:fld>
            <a:endParaRPr lang="en-US"/>
          </a:p>
        </p:txBody>
      </p:sp>
      <p:sp>
        <p:nvSpPr>
          <p:cNvPr id="5" name="Footer Placeholder 4">
            <a:extLst>
              <a:ext uri="{FF2B5EF4-FFF2-40B4-BE49-F238E27FC236}">
                <a16:creationId xmlns:a16="http://schemas.microsoft.com/office/drawing/2014/main" id="{3438248F-25ED-28B5-C118-AD2B3995E5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2CD4C6-062B-B9E3-D54F-0E2717665864}"/>
              </a:ext>
            </a:extLst>
          </p:cNvPr>
          <p:cNvSpPr>
            <a:spLocks noGrp="1"/>
          </p:cNvSpPr>
          <p:nvPr>
            <p:ph type="sldNum" sz="quarter" idx="12"/>
          </p:nvPr>
        </p:nvSpPr>
        <p:spPr/>
        <p:txBody>
          <a:bodyPr/>
          <a:lstStyle/>
          <a:p>
            <a:fld id="{1825AF49-1BB8-420B-B26D-05B27CCB75CA}" type="slidenum">
              <a:rPr lang="en-US" smtClean="0"/>
              <a:t>‹#›</a:t>
            </a:fld>
            <a:endParaRPr lang="en-US"/>
          </a:p>
        </p:txBody>
      </p:sp>
    </p:spTree>
    <p:extLst>
      <p:ext uri="{BB962C8B-B14F-4D97-AF65-F5344CB8AC3E}">
        <p14:creationId xmlns:p14="http://schemas.microsoft.com/office/powerpoint/2010/main" val="37725378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3ED97-EF2F-D0A4-C88C-3590199053F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AE0C197-52AA-1595-05AB-084726F6FA6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81D295D-ACA8-A421-5C42-B75BC30F66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5DFFDAC-303C-B973-6E2D-36FD3F02C833}"/>
              </a:ext>
            </a:extLst>
          </p:cNvPr>
          <p:cNvSpPr>
            <a:spLocks noGrp="1"/>
          </p:cNvSpPr>
          <p:nvPr>
            <p:ph type="dt" sz="half" idx="10"/>
          </p:nvPr>
        </p:nvSpPr>
        <p:spPr/>
        <p:txBody>
          <a:bodyPr/>
          <a:lstStyle/>
          <a:p>
            <a:fld id="{D1427CFC-C8BD-43F2-A47D-413534A41930}" type="datetimeFigureOut">
              <a:rPr lang="en-US" smtClean="0"/>
              <a:t>10/17/2026</a:t>
            </a:fld>
            <a:endParaRPr lang="en-US"/>
          </a:p>
        </p:txBody>
      </p:sp>
      <p:sp>
        <p:nvSpPr>
          <p:cNvPr id="6" name="Footer Placeholder 5">
            <a:extLst>
              <a:ext uri="{FF2B5EF4-FFF2-40B4-BE49-F238E27FC236}">
                <a16:creationId xmlns:a16="http://schemas.microsoft.com/office/drawing/2014/main" id="{1275D997-7FA8-69A1-D2F7-DFF4AF4C5A0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3AD55C-AD1A-01DB-D9C0-AE1E16CF46F1}"/>
              </a:ext>
            </a:extLst>
          </p:cNvPr>
          <p:cNvSpPr>
            <a:spLocks noGrp="1"/>
          </p:cNvSpPr>
          <p:nvPr>
            <p:ph type="sldNum" sz="quarter" idx="12"/>
          </p:nvPr>
        </p:nvSpPr>
        <p:spPr/>
        <p:txBody>
          <a:bodyPr/>
          <a:lstStyle/>
          <a:p>
            <a:fld id="{1825AF49-1BB8-420B-B26D-05B27CCB75CA}" type="slidenum">
              <a:rPr lang="en-US" smtClean="0"/>
              <a:t>‹#›</a:t>
            </a:fld>
            <a:endParaRPr lang="en-US"/>
          </a:p>
        </p:txBody>
      </p:sp>
    </p:spTree>
    <p:extLst>
      <p:ext uri="{BB962C8B-B14F-4D97-AF65-F5344CB8AC3E}">
        <p14:creationId xmlns:p14="http://schemas.microsoft.com/office/powerpoint/2010/main" val="2979502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12F19-FF80-F470-3159-DCAAD670562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351B6B4-9B73-0318-C15A-FE3ED9ED65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2130C64-0548-C9FF-10DE-75FE92289D8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4DE450-4B52-493D-6B21-1E7E8B7026E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A870B8-C8F7-10B9-607A-DCC318C2AE4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935D562-96C2-4DDC-368A-A268F182967E}"/>
              </a:ext>
            </a:extLst>
          </p:cNvPr>
          <p:cNvSpPr>
            <a:spLocks noGrp="1"/>
          </p:cNvSpPr>
          <p:nvPr>
            <p:ph type="dt" sz="half" idx="10"/>
          </p:nvPr>
        </p:nvSpPr>
        <p:spPr/>
        <p:txBody>
          <a:bodyPr/>
          <a:lstStyle/>
          <a:p>
            <a:fld id="{D1427CFC-C8BD-43F2-A47D-413534A41930}" type="datetimeFigureOut">
              <a:rPr lang="en-US" smtClean="0"/>
              <a:t>10/17/2026</a:t>
            </a:fld>
            <a:endParaRPr lang="en-US"/>
          </a:p>
        </p:txBody>
      </p:sp>
      <p:sp>
        <p:nvSpPr>
          <p:cNvPr id="8" name="Footer Placeholder 7">
            <a:extLst>
              <a:ext uri="{FF2B5EF4-FFF2-40B4-BE49-F238E27FC236}">
                <a16:creationId xmlns:a16="http://schemas.microsoft.com/office/drawing/2014/main" id="{8297D40B-B9A7-6E66-978C-EDE41895634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31425E6-97FC-C37E-2A46-876B53385F2B}"/>
              </a:ext>
            </a:extLst>
          </p:cNvPr>
          <p:cNvSpPr>
            <a:spLocks noGrp="1"/>
          </p:cNvSpPr>
          <p:nvPr>
            <p:ph type="sldNum" sz="quarter" idx="12"/>
          </p:nvPr>
        </p:nvSpPr>
        <p:spPr/>
        <p:txBody>
          <a:bodyPr/>
          <a:lstStyle/>
          <a:p>
            <a:fld id="{1825AF49-1BB8-420B-B26D-05B27CCB75CA}" type="slidenum">
              <a:rPr lang="en-US" smtClean="0"/>
              <a:t>‹#›</a:t>
            </a:fld>
            <a:endParaRPr lang="en-US"/>
          </a:p>
        </p:txBody>
      </p:sp>
    </p:spTree>
    <p:extLst>
      <p:ext uri="{BB962C8B-B14F-4D97-AF65-F5344CB8AC3E}">
        <p14:creationId xmlns:p14="http://schemas.microsoft.com/office/powerpoint/2010/main" val="2084494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A7167-C1B9-EE54-5B79-24F513EB644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CCB24D9-D2A8-CF38-C9F8-D8DE139BA99C}"/>
              </a:ext>
            </a:extLst>
          </p:cNvPr>
          <p:cNvSpPr>
            <a:spLocks noGrp="1"/>
          </p:cNvSpPr>
          <p:nvPr>
            <p:ph type="dt" sz="half" idx="10"/>
          </p:nvPr>
        </p:nvSpPr>
        <p:spPr/>
        <p:txBody>
          <a:bodyPr/>
          <a:lstStyle/>
          <a:p>
            <a:fld id="{D1427CFC-C8BD-43F2-A47D-413534A41930}" type="datetimeFigureOut">
              <a:rPr lang="en-US" smtClean="0"/>
              <a:t>10/17/2026</a:t>
            </a:fld>
            <a:endParaRPr lang="en-US"/>
          </a:p>
        </p:txBody>
      </p:sp>
      <p:sp>
        <p:nvSpPr>
          <p:cNvPr id="4" name="Footer Placeholder 3">
            <a:extLst>
              <a:ext uri="{FF2B5EF4-FFF2-40B4-BE49-F238E27FC236}">
                <a16:creationId xmlns:a16="http://schemas.microsoft.com/office/drawing/2014/main" id="{4F9613E3-23F7-72A9-78C2-62851F72BC5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66F9894-00C1-D6E0-748C-6D5E9C172AF3}"/>
              </a:ext>
            </a:extLst>
          </p:cNvPr>
          <p:cNvSpPr>
            <a:spLocks noGrp="1"/>
          </p:cNvSpPr>
          <p:nvPr>
            <p:ph type="sldNum" sz="quarter" idx="12"/>
          </p:nvPr>
        </p:nvSpPr>
        <p:spPr/>
        <p:txBody>
          <a:bodyPr/>
          <a:lstStyle/>
          <a:p>
            <a:fld id="{1825AF49-1BB8-420B-B26D-05B27CCB75CA}" type="slidenum">
              <a:rPr lang="en-US" smtClean="0"/>
              <a:t>‹#›</a:t>
            </a:fld>
            <a:endParaRPr lang="en-US"/>
          </a:p>
        </p:txBody>
      </p:sp>
    </p:spTree>
    <p:extLst>
      <p:ext uri="{BB962C8B-B14F-4D97-AF65-F5344CB8AC3E}">
        <p14:creationId xmlns:p14="http://schemas.microsoft.com/office/powerpoint/2010/main" val="28271770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BBD06C-8BB7-2F86-BF8B-99EE711544C7}"/>
              </a:ext>
            </a:extLst>
          </p:cNvPr>
          <p:cNvSpPr>
            <a:spLocks noGrp="1"/>
          </p:cNvSpPr>
          <p:nvPr>
            <p:ph type="dt" sz="half" idx="10"/>
          </p:nvPr>
        </p:nvSpPr>
        <p:spPr/>
        <p:txBody>
          <a:bodyPr/>
          <a:lstStyle/>
          <a:p>
            <a:fld id="{D1427CFC-C8BD-43F2-A47D-413534A41930}" type="datetimeFigureOut">
              <a:rPr lang="en-US" smtClean="0"/>
              <a:t>10/17/2026</a:t>
            </a:fld>
            <a:endParaRPr lang="en-US"/>
          </a:p>
        </p:txBody>
      </p:sp>
      <p:sp>
        <p:nvSpPr>
          <p:cNvPr id="3" name="Footer Placeholder 2">
            <a:extLst>
              <a:ext uri="{FF2B5EF4-FFF2-40B4-BE49-F238E27FC236}">
                <a16:creationId xmlns:a16="http://schemas.microsoft.com/office/drawing/2014/main" id="{4FA65CC2-99D0-4ADF-4002-B0C57FFF09F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FBCA728-B182-D5E9-E03C-806E7872C4DA}"/>
              </a:ext>
            </a:extLst>
          </p:cNvPr>
          <p:cNvSpPr>
            <a:spLocks noGrp="1"/>
          </p:cNvSpPr>
          <p:nvPr>
            <p:ph type="sldNum" sz="quarter" idx="12"/>
          </p:nvPr>
        </p:nvSpPr>
        <p:spPr/>
        <p:txBody>
          <a:bodyPr/>
          <a:lstStyle/>
          <a:p>
            <a:fld id="{1825AF49-1BB8-420B-B26D-05B27CCB75CA}" type="slidenum">
              <a:rPr lang="en-US" smtClean="0"/>
              <a:t>‹#›</a:t>
            </a:fld>
            <a:endParaRPr lang="en-US"/>
          </a:p>
        </p:txBody>
      </p:sp>
    </p:spTree>
    <p:extLst>
      <p:ext uri="{BB962C8B-B14F-4D97-AF65-F5344CB8AC3E}">
        <p14:creationId xmlns:p14="http://schemas.microsoft.com/office/powerpoint/2010/main" val="23174561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141989-FA4C-0980-2543-125D4F562A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5C6C03A-0A7F-1BD7-E265-A72DBC240E8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5617E95-3857-E3F7-42A4-F27FAB26A0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34F61D-C517-439F-2E14-15498CC84E74}"/>
              </a:ext>
            </a:extLst>
          </p:cNvPr>
          <p:cNvSpPr>
            <a:spLocks noGrp="1"/>
          </p:cNvSpPr>
          <p:nvPr>
            <p:ph type="dt" sz="half" idx="10"/>
          </p:nvPr>
        </p:nvSpPr>
        <p:spPr/>
        <p:txBody>
          <a:bodyPr/>
          <a:lstStyle/>
          <a:p>
            <a:fld id="{D1427CFC-C8BD-43F2-A47D-413534A41930}" type="datetimeFigureOut">
              <a:rPr lang="en-US" smtClean="0"/>
              <a:t>10/17/2026</a:t>
            </a:fld>
            <a:endParaRPr lang="en-US"/>
          </a:p>
        </p:txBody>
      </p:sp>
      <p:sp>
        <p:nvSpPr>
          <p:cNvPr id="6" name="Footer Placeholder 5">
            <a:extLst>
              <a:ext uri="{FF2B5EF4-FFF2-40B4-BE49-F238E27FC236}">
                <a16:creationId xmlns:a16="http://schemas.microsoft.com/office/drawing/2014/main" id="{342C719F-16C6-981A-0BCD-B96DCC1CE9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AF4168-725C-F7A2-E90A-D6897CA3BC69}"/>
              </a:ext>
            </a:extLst>
          </p:cNvPr>
          <p:cNvSpPr>
            <a:spLocks noGrp="1"/>
          </p:cNvSpPr>
          <p:nvPr>
            <p:ph type="sldNum" sz="quarter" idx="12"/>
          </p:nvPr>
        </p:nvSpPr>
        <p:spPr/>
        <p:txBody>
          <a:bodyPr/>
          <a:lstStyle/>
          <a:p>
            <a:fld id="{1825AF49-1BB8-420B-B26D-05B27CCB75CA}" type="slidenum">
              <a:rPr lang="en-US" smtClean="0"/>
              <a:t>‹#›</a:t>
            </a:fld>
            <a:endParaRPr lang="en-US"/>
          </a:p>
        </p:txBody>
      </p:sp>
    </p:spTree>
    <p:extLst>
      <p:ext uri="{BB962C8B-B14F-4D97-AF65-F5344CB8AC3E}">
        <p14:creationId xmlns:p14="http://schemas.microsoft.com/office/powerpoint/2010/main" val="20061071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40440D-5D92-D5B1-205F-2BA0087ABF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221CCA8-B723-E12E-2A03-0648CFCA8E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FEF3A38-50BB-3881-90D8-71B3A7A946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0A9EDF1-68BA-6855-110D-BC8717A87E9D}"/>
              </a:ext>
            </a:extLst>
          </p:cNvPr>
          <p:cNvSpPr>
            <a:spLocks noGrp="1"/>
          </p:cNvSpPr>
          <p:nvPr>
            <p:ph type="dt" sz="half" idx="10"/>
          </p:nvPr>
        </p:nvSpPr>
        <p:spPr/>
        <p:txBody>
          <a:bodyPr/>
          <a:lstStyle/>
          <a:p>
            <a:fld id="{D1427CFC-C8BD-43F2-A47D-413534A41930}" type="datetimeFigureOut">
              <a:rPr lang="en-US" smtClean="0"/>
              <a:t>10/17/2026</a:t>
            </a:fld>
            <a:endParaRPr lang="en-US"/>
          </a:p>
        </p:txBody>
      </p:sp>
      <p:sp>
        <p:nvSpPr>
          <p:cNvPr id="6" name="Footer Placeholder 5">
            <a:extLst>
              <a:ext uri="{FF2B5EF4-FFF2-40B4-BE49-F238E27FC236}">
                <a16:creationId xmlns:a16="http://schemas.microsoft.com/office/drawing/2014/main" id="{3B5A8B1B-716D-2360-56FC-6907DDEEDE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DDA2B3-BF58-CA25-540C-811D06C2C747}"/>
              </a:ext>
            </a:extLst>
          </p:cNvPr>
          <p:cNvSpPr>
            <a:spLocks noGrp="1"/>
          </p:cNvSpPr>
          <p:nvPr>
            <p:ph type="sldNum" sz="quarter" idx="12"/>
          </p:nvPr>
        </p:nvSpPr>
        <p:spPr/>
        <p:txBody>
          <a:bodyPr/>
          <a:lstStyle/>
          <a:p>
            <a:fld id="{1825AF49-1BB8-420B-B26D-05B27CCB75CA}" type="slidenum">
              <a:rPr lang="en-US" smtClean="0"/>
              <a:t>‹#›</a:t>
            </a:fld>
            <a:endParaRPr lang="en-US"/>
          </a:p>
        </p:txBody>
      </p:sp>
    </p:spTree>
    <p:extLst>
      <p:ext uri="{BB962C8B-B14F-4D97-AF65-F5344CB8AC3E}">
        <p14:creationId xmlns:p14="http://schemas.microsoft.com/office/powerpoint/2010/main" val="492287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8CD77-BDBA-79B1-617E-F7B97AEE980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C553353-8768-2837-EB5C-54703F0227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9465568-50B9-0A46-6F90-94818545E2CD}"/>
              </a:ext>
            </a:extLst>
          </p:cNvPr>
          <p:cNvSpPr>
            <a:spLocks noGrp="1"/>
          </p:cNvSpPr>
          <p:nvPr>
            <p:ph type="dt" sz="half" idx="10"/>
          </p:nvPr>
        </p:nvSpPr>
        <p:spPr/>
        <p:txBody>
          <a:bodyPr/>
          <a:lstStyle/>
          <a:p>
            <a:fld id="{D1427CFC-C8BD-43F2-A47D-413534A41930}" type="datetimeFigureOut">
              <a:rPr lang="en-US" smtClean="0"/>
              <a:t>10/17/2026</a:t>
            </a:fld>
            <a:endParaRPr lang="en-US"/>
          </a:p>
        </p:txBody>
      </p:sp>
      <p:sp>
        <p:nvSpPr>
          <p:cNvPr id="5" name="Footer Placeholder 4">
            <a:extLst>
              <a:ext uri="{FF2B5EF4-FFF2-40B4-BE49-F238E27FC236}">
                <a16:creationId xmlns:a16="http://schemas.microsoft.com/office/drawing/2014/main" id="{193249EB-2278-5AC9-9E52-E601087B8F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650FD1-65C5-F3CD-4670-AFA95A6E3A57}"/>
              </a:ext>
            </a:extLst>
          </p:cNvPr>
          <p:cNvSpPr>
            <a:spLocks noGrp="1"/>
          </p:cNvSpPr>
          <p:nvPr>
            <p:ph type="sldNum" sz="quarter" idx="12"/>
          </p:nvPr>
        </p:nvSpPr>
        <p:spPr/>
        <p:txBody>
          <a:bodyPr/>
          <a:lstStyle/>
          <a:p>
            <a:fld id="{1825AF49-1BB8-420B-B26D-05B27CCB75CA}" type="slidenum">
              <a:rPr lang="en-US" smtClean="0"/>
              <a:t>‹#›</a:t>
            </a:fld>
            <a:endParaRPr lang="en-US"/>
          </a:p>
        </p:txBody>
      </p:sp>
    </p:spTree>
    <p:extLst>
      <p:ext uri="{BB962C8B-B14F-4D97-AF65-F5344CB8AC3E}">
        <p14:creationId xmlns:p14="http://schemas.microsoft.com/office/powerpoint/2010/main" val="8091303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83A86E-953A-F19D-AA06-33BF3E2CD15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CC7E6D-E4B1-AB3F-7FCA-EAD9A0C6C18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4B16CA-AB4D-AA27-6437-C9CABA3A8D6B}"/>
              </a:ext>
            </a:extLst>
          </p:cNvPr>
          <p:cNvSpPr>
            <a:spLocks noGrp="1"/>
          </p:cNvSpPr>
          <p:nvPr>
            <p:ph type="dt" sz="half" idx="10"/>
          </p:nvPr>
        </p:nvSpPr>
        <p:spPr/>
        <p:txBody>
          <a:bodyPr/>
          <a:lstStyle/>
          <a:p>
            <a:fld id="{D1427CFC-C8BD-43F2-A47D-413534A41930}" type="datetimeFigureOut">
              <a:rPr lang="en-US" smtClean="0"/>
              <a:t>10/17/2026</a:t>
            </a:fld>
            <a:endParaRPr lang="en-US"/>
          </a:p>
        </p:txBody>
      </p:sp>
      <p:sp>
        <p:nvSpPr>
          <p:cNvPr id="5" name="Footer Placeholder 4">
            <a:extLst>
              <a:ext uri="{FF2B5EF4-FFF2-40B4-BE49-F238E27FC236}">
                <a16:creationId xmlns:a16="http://schemas.microsoft.com/office/drawing/2014/main" id="{AFE11CAE-7595-0554-AF12-81CD52C9FA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5D9CCF-712E-C9C7-CC89-9E17C5340AA7}"/>
              </a:ext>
            </a:extLst>
          </p:cNvPr>
          <p:cNvSpPr>
            <a:spLocks noGrp="1"/>
          </p:cNvSpPr>
          <p:nvPr>
            <p:ph type="sldNum" sz="quarter" idx="12"/>
          </p:nvPr>
        </p:nvSpPr>
        <p:spPr/>
        <p:txBody>
          <a:bodyPr/>
          <a:lstStyle/>
          <a:p>
            <a:fld id="{1825AF49-1BB8-420B-B26D-05B27CCB75CA}" type="slidenum">
              <a:rPr lang="en-US" smtClean="0"/>
              <a:t>‹#›</a:t>
            </a:fld>
            <a:endParaRPr lang="en-US"/>
          </a:p>
        </p:txBody>
      </p:sp>
    </p:spTree>
    <p:extLst>
      <p:ext uri="{BB962C8B-B14F-4D97-AF65-F5344CB8AC3E}">
        <p14:creationId xmlns:p14="http://schemas.microsoft.com/office/powerpoint/2010/main" val="42739372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F05D31-EBEA-F08E-FBA1-1435DF2965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1B36684-CCA5-623F-1E79-DD137DF5E4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85A366-94A2-4831-7A81-9893CD7573A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1427CFC-C8BD-43F2-A47D-413534A41930}" type="datetimeFigureOut">
              <a:rPr lang="en-US" smtClean="0"/>
              <a:t>10/17/2026</a:t>
            </a:fld>
            <a:endParaRPr lang="en-US"/>
          </a:p>
        </p:txBody>
      </p:sp>
      <p:sp>
        <p:nvSpPr>
          <p:cNvPr id="5" name="Footer Placeholder 4">
            <a:extLst>
              <a:ext uri="{FF2B5EF4-FFF2-40B4-BE49-F238E27FC236}">
                <a16:creationId xmlns:a16="http://schemas.microsoft.com/office/drawing/2014/main" id="{68A6FF3A-1438-0872-45E2-F0617C6421E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F203357-9110-4EC0-7BD6-6852F8B9AF4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825AF49-1BB8-420B-B26D-05B27CCB75CA}" type="slidenum">
              <a:rPr lang="en-US" smtClean="0"/>
              <a:t>‹#›</a:t>
            </a:fld>
            <a:endParaRPr lang="en-US"/>
          </a:p>
        </p:txBody>
      </p:sp>
    </p:spTree>
    <p:extLst>
      <p:ext uri="{BB962C8B-B14F-4D97-AF65-F5344CB8AC3E}">
        <p14:creationId xmlns:p14="http://schemas.microsoft.com/office/powerpoint/2010/main" val="36186147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sv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7C3BE6-607C-D085-C644-E08EB42A1B9C}"/>
              </a:ext>
            </a:extLst>
          </p:cNvPr>
          <p:cNvSpPr>
            <a:spLocks noGrp="1"/>
          </p:cNvSpPr>
          <p:nvPr>
            <p:ph type="ctrTitle"/>
          </p:nvPr>
        </p:nvSpPr>
        <p:spPr/>
        <p:txBody>
          <a:bodyPr/>
          <a:lstStyle/>
          <a:p>
            <a:r>
              <a:rPr lang="en-US" dirty="0"/>
              <a:t>Design Pattern Final Project</a:t>
            </a:r>
          </a:p>
        </p:txBody>
      </p:sp>
      <p:sp>
        <p:nvSpPr>
          <p:cNvPr id="3" name="Subtitle 2">
            <a:extLst>
              <a:ext uri="{FF2B5EF4-FFF2-40B4-BE49-F238E27FC236}">
                <a16:creationId xmlns:a16="http://schemas.microsoft.com/office/drawing/2014/main" id="{1B310230-A6EB-8B13-D326-2EC18A3512A5}"/>
              </a:ext>
            </a:extLst>
          </p:cNvPr>
          <p:cNvSpPr>
            <a:spLocks noGrp="1"/>
          </p:cNvSpPr>
          <p:nvPr>
            <p:ph type="subTitle" idx="1"/>
          </p:nvPr>
        </p:nvSpPr>
        <p:spPr>
          <a:xfrm>
            <a:off x="1524000" y="3602037"/>
            <a:ext cx="9144000" cy="2499713"/>
          </a:xfrm>
        </p:spPr>
        <p:txBody>
          <a:bodyPr>
            <a:normAutofit/>
          </a:bodyPr>
          <a:lstStyle/>
          <a:p>
            <a:r>
              <a:rPr lang="en-US" dirty="0"/>
              <a:t>Luay M. Assidmi</a:t>
            </a:r>
          </a:p>
          <a:p>
            <a:r>
              <a:rPr lang="en-US" dirty="0"/>
              <a:t>September 29, 2026</a:t>
            </a:r>
          </a:p>
          <a:p>
            <a:r>
              <a:rPr lang="en-US" dirty="0"/>
              <a:t>Ontology and Intel Analysis </a:t>
            </a:r>
          </a:p>
          <a:p>
            <a:r>
              <a:rPr i="1">
                <a:solidFill>
                  <a:srgbClr val="C00000"/>
                </a:solidFill>
              </a:rPr>
              <a:t>Revised October 17, 2026: proposal re-examined against course material</a:t>
            </a:r>
          </a:p>
        </p:txBody>
      </p:sp>
    </p:spTree>
    <p:extLst>
      <p:ext uri="{BB962C8B-B14F-4D97-AF65-F5344CB8AC3E}">
        <p14:creationId xmlns:p14="http://schemas.microsoft.com/office/powerpoint/2010/main" val="25579475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C3ADB-E7B1-5ACD-F6E3-03529D88B1DE}"/>
              </a:ext>
            </a:extLst>
          </p:cNvPr>
          <p:cNvSpPr>
            <a:spLocks noGrp="1"/>
          </p:cNvSpPr>
          <p:nvPr>
            <p:ph type="title"/>
          </p:nvPr>
        </p:nvSpPr>
        <p:spPr/>
        <p:txBody>
          <a:bodyPr/>
          <a:lstStyle/>
          <a:p>
            <a:r>
              <a:rPr lang="en-US" dirty="0"/>
              <a:t>Proposed Final Project Topic</a:t>
            </a:r>
          </a:p>
        </p:txBody>
      </p:sp>
      <p:sp>
        <p:nvSpPr>
          <p:cNvPr id="3" name="Text Placeholder 2">
            <a:extLst>
              <a:ext uri="{FF2B5EF4-FFF2-40B4-BE49-F238E27FC236}">
                <a16:creationId xmlns:a16="http://schemas.microsoft.com/office/drawing/2014/main" id="{64F10922-7402-39F9-08AC-EB7A5DF9131C}"/>
              </a:ext>
            </a:extLst>
          </p:cNvPr>
          <p:cNvSpPr>
            <a:spLocks noGrp="1"/>
          </p:cNvSpPr>
          <p:nvPr>
            <p:ph type="body" idx="1"/>
          </p:nvPr>
        </p:nvSpPr>
        <p:spPr/>
        <p:txBody>
          <a:bodyPr/>
          <a:lstStyle/>
          <a:p>
            <a:r>
              <a:rPr lang="en-US" dirty="0"/>
              <a:t>Meeting</a:t>
            </a:r>
          </a:p>
        </p:txBody>
      </p:sp>
    </p:spTree>
    <p:extLst>
      <p:ext uri="{BB962C8B-B14F-4D97-AF65-F5344CB8AC3E}">
        <p14:creationId xmlns:p14="http://schemas.microsoft.com/office/powerpoint/2010/main" val="3453587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6C102AB-1AD3-173A-DC36-DF9962BDE4E0}"/>
              </a:ext>
            </a:extLst>
          </p:cNvPr>
          <p:cNvSpPr>
            <a:spLocks noGrp="1"/>
          </p:cNvSpPr>
          <p:nvPr>
            <p:ph type="title"/>
          </p:nvPr>
        </p:nvSpPr>
        <p:spPr/>
        <p:txBody>
          <a:bodyPr/>
          <a:lstStyle/>
          <a:p>
            <a:r>
              <a:rPr lang="en-US" dirty="0"/>
              <a:t>Why Meetings?</a:t>
            </a:r>
          </a:p>
        </p:txBody>
      </p:sp>
      <p:sp>
        <p:nvSpPr>
          <p:cNvPr id="5" name="Content Placeholder 4">
            <a:extLst>
              <a:ext uri="{FF2B5EF4-FFF2-40B4-BE49-F238E27FC236}">
                <a16:creationId xmlns:a16="http://schemas.microsoft.com/office/drawing/2014/main" id="{D744A945-9826-87C9-0A70-480B8E7C5322}"/>
              </a:ext>
            </a:extLst>
          </p:cNvPr>
          <p:cNvSpPr>
            <a:spLocks noGrp="1"/>
          </p:cNvSpPr>
          <p:nvPr>
            <p:ph idx="1"/>
          </p:nvPr>
        </p:nvSpPr>
        <p:spPr/>
        <p:txBody>
          <a:bodyPr>
            <a:normAutofit fontScale="85000" lnSpcReduction="10000"/>
          </a:bodyPr>
          <a:lstStyle/>
          <a:p>
            <a:r>
              <a:rPr lang="en-US" dirty="0"/>
              <a:t>Meeting presentations and meeting minutes are our main target. </a:t>
            </a:r>
          </a:p>
          <a:p>
            <a:pPr lvl="1"/>
            <a:r>
              <a:rPr lang="en-US" dirty="0"/>
              <a:t>They are abundance, </a:t>
            </a:r>
          </a:p>
          <a:p>
            <a:pPr lvl="1"/>
            <a:r>
              <a:rPr lang="en-US" dirty="0"/>
              <a:t>they are engineered knowledge for humans to consume, </a:t>
            </a:r>
          </a:p>
          <a:p>
            <a:pPr lvl="1"/>
            <a:r>
              <a:rPr lang="en-US" dirty="0"/>
              <a:t>they proved context, and provenance, and traceability </a:t>
            </a:r>
          </a:p>
          <a:p>
            <a:r>
              <a:rPr lang="en-US" dirty="0"/>
              <a:t>Goal:</a:t>
            </a:r>
          </a:p>
          <a:p>
            <a:pPr lvl="1"/>
            <a:r>
              <a:rPr lang="en-US" dirty="0"/>
              <a:t>Our aim is to build institutional knowledge extracting pipeline that accumulates future intelligence and connect, archive and retrieve legacy tacit knowledge.</a:t>
            </a:r>
          </a:p>
          <a:p>
            <a:r>
              <a:rPr lang="en-US" dirty="0"/>
              <a:t>How:</a:t>
            </a:r>
          </a:p>
          <a:p>
            <a:pPr lvl="1"/>
            <a:r>
              <a:rPr lang="en-US" dirty="0"/>
              <a:t>we want to engineer that presentation and meeting minutes (which concretize meta data and action speak [mandate]) for machines to consume.</a:t>
            </a:r>
          </a:p>
          <a:p>
            <a:r>
              <a:rPr lang="en-US" dirty="0"/>
              <a:t>Ensuring:</a:t>
            </a:r>
          </a:p>
          <a:p>
            <a:pPr lvl="1"/>
            <a:r>
              <a:rPr lang="en-US" dirty="0"/>
              <a:t>Data quality while extracting intelligence</a:t>
            </a:r>
          </a:p>
          <a:p>
            <a:pPr lvl="1"/>
            <a:r>
              <a:rPr lang="en-US" dirty="0"/>
              <a:t>Data interoperability between projects, initiatives, and programs across the organization</a:t>
            </a:r>
          </a:p>
        </p:txBody>
      </p:sp>
    </p:spTree>
    <p:extLst>
      <p:ext uri="{BB962C8B-B14F-4D97-AF65-F5344CB8AC3E}">
        <p14:creationId xmlns:p14="http://schemas.microsoft.com/office/powerpoint/2010/main" val="755370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94983-8620-DA8B-1065-6B5D0C733F63}"/>
              </a:ext>
            </a:extLst>
          </p:cNvPr>
          <p:cNvSpPr>
            <a:spLocks noGrp="1"/>
          </p:cNvSpPr>
          <p:nvPr>
            <p:ph type="title"/>
          </p:nvPr>
        </p:nvSpPr>
        <p:spPr/>
        <p:txBody>
          <a:bodyPr/>
          <a:lstStyle/>
          <a:p>
            <a:r>
              <a:rPr lang="en-US" dirty="0"/>
              <a:t>Design process method</a:t>
            </a:r>
          </a:p>
        </p:txBody>
      </p:sp>
      <p:sp>
        <p:nvSpPr>
          <p:cNvPr id="3" name="Content Placeholder 2">
            <a:extLst>
              <a:ext uri="{FF2B5EF4-FFF2-40B4-BE49-F238E27FC236}">
                <a16:creationId xmlns:a16="http://schemas.microsoft.com/office/drawing/2014/main" id="{37284E07-CB84-4912-7614-1FAE678D3EC2}"/>
              </a:ext>
            </a:extLst>
          </p:cNvPr>
          <p:cNvSpPr>
            <a:spLocks noGrp="1"/>
          </p:cNvSpPr>
          <p:nvPr>
            <p:ph idx="1"/>
          </p:nvPr>
        </p:nvSpPr>
        <p:spPr/>
        <p:txBody>
          <a:bodyPr/>
          <a:lstStyle/>
          <a:p>
            <a:r>
              <a:rPr lang="en-US" dirty="0"/>
              <a:t>Step 1: My own definition in words (no BFO/CCO lenses)</a:t>
            </a:r>
          </a:p>
          <a:p>
            <a:r>
              <a:rPr lang="en-US" dirty="0"/>
              <a:t>Step 2: Build BPMN map</a:t>
            </a:r>
          </a:p>
          <a:p>
            <a:pPr marL="0" indent="0">
              <a:buNone/>
            </a:pPr>
            <a:r>
              <a:rPr lang="en-US" i="1" dirty="0">
                <a:solidFill>
                  <a:srgbClr val="C00000"/>
                </a:solidFill>
              </a:rPr>
              <a:t>Following steps are Co-authored with Design Pattern Assistant</a:t>
            </a:r>
            <a:r>
              <a:rPr lang="en-US" sz="1200" i="1" dirty="0">
                <a:solidFill>
                  <a:srgbClr val="C00000"/>
                </a:solidFill>
              </a:rPr>
              <a:t>(1)</a:t>
            </a:r>
            <a:r>
              <a:rPr lang="en-US" i="1" dirty="0">
                <a:solidFill>
                  <a:srgbClr val="C00000"/>
                </a:solidFill>
              </a:rPr>
              <a:t> (AI)</a:t>
            </a:r>
            <a:endParaRPr lang="en-US" dirty="0">
              <a:solidFill>
                <a:srgbClr val="C00000"/>
              </a:solidFill>
            </a:endParaRPr>
          </a:p>
          <a:p>
            <a:r>
              <a:rPr lang="en-US" dirty="0"/>
              <a:t>Step 3: Apply rules of Thumb </a:t>
            </a:r>
          </a:p>
          <a:p>
            <a:r>
              <a:rPr lang="en-US" dirty="0"/>
              <a:t>Step 4: Lookup BFO/CCO lenses on to build Design pattern </a:t>
            </a:r>
          </a:p>
          <a:p>
            <a:r>
              <a:rPr lang="en-US" dirty="0"/>
              <a:t>Step 5: Pattern Design workshop Mermaid Draw </a:t>
            </a:r>
          </a:p>
          <a:p>
            <a:pPr marL="0" indent="0">
              <a:buNone/>
            </a:pPr>
            <a:endParaRPr lang="en-US" dirty="0"/>
          </a:p>
        </p:txBody>
      </p:sp>
      <p:sp>
        <p:nvSpPr>
          <p:cNvPr id="4" name="Rectangle 3">
            <a:extLst>
              <a:ext uri="{FF2B5EF4-FFF2-40B4-BE49-F238E27FC236}">
                <a16:creationId xmlns:a16="http://schemas.microsoft.com/office/drawing/2014/main" id="{251EF458-8E55-A5B1-C714-04B2614813EF}"/>
              </a:ext>
            </a:extLst>
          </p:cNvPr>
          <p:cNvSpPr/>
          <p:nvPr/>
        </p:nvSpPr>
        <p:spPr>
          <a:xfrm>
            <a:off x="695864" y="6274279"/>
            <a:ext cx="11432876" cy="33355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(1) Design Pattern Assistant is an agent that is trained on BFO and CCO, it’s job it identify and re-use entity classification and relationships. A sample of their assistant will be provided in markdown files</a:t>
            </a:r>
          </a:p>
        </p:txBody>
      </p:sp>
    </p:spTree>
    <p:extLst>
      <p:ext uri="{BB962C8B-B14F-4D97-AF65-F5344CB8AC3E}">
        <p14:creationId xmlns:p14="http://schemas.microsoft.com/office/powerpoint/2010/main" val="11584725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2D144-8298-453C-22A0-B7CFF264F3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10DE8E-ABD9-986A-677C-26ED025A766B}"/>
              </a:ext>
            </a:extLst>
          </p:cNvPr>
          <p:cNvSpPr>
            <a:spLocks noGrp="1"/>
          </p:cNvSpPr>
          <p:nvPr>
            <p:ph type="title"/>
          </p:nvPr>
        </p:nvSpPr>
        <p:spPr/>
        <p:txBody>
          <a:bodyPr/>
          <a:lstStyle/>
          <a:p>
            <a:r>
              <a:t>Step 1: My own definition, tested</a:t>
            </a:r>
          </a:p>
        </p:txBody>
      </p:sp>
      <p:sp>
        <p:nvSpPr>
          <p:cNvPr id="3" name="Content Placeholder 2">
            <a:extLst>
              <a:ext uri="{FF2B5EF4-FFF2-40B4-BE49-F238E27FC236}">
                <a16:creationId xmlns:a16="http://schemas.microsoft.com/office/drawing/2014/main" id="{9F0AB32A-F6AB-F65E-61F0-4A1D52CC1AB7}"/>
              </a:ext>
            </a:extLst>
          </p:cNvPr>
          <p:cNvSpPr>
            <a:spLocks noGrp="1"/>
          </p:cNvSpPr>
          <p:nvPr>
            <p:ph idx="1"/>
          </p:nvPr>
        </p:nvSpPr>
        <p:spPr>
          <a:xfrm>
            <a:off x="548640" y="1325880"/>
            <a:ext cx="11064240" cy="914400"/>
          </a:xfrm>
        </p:spPr>
        <p:txBody>
          <a:bodyPr/>
          <a:lstStyle/>
          <a:p>
            <a:r>
              <a:rPr sz="1800" b="1">
                <a:solidFill>
                  <a:srgbClr val="C00000"/>
                </a:solidFill>
              </a:rPr>
              <a:t>v1:  </a:t>
            </a:r>
            <a:r>
              <a:rPr sz="1800" b="0"/>
              <a:t>A Meeting is a type of human gathering (online/in person) for a determined period of time to address a topic(s) and make decisions (mandates)</a:t>
            </a:r>
          </a:p>
        </p:txBody>
      </p:sp>
      <p:graphicFrame>
        <p:nvGraphicFramePr>
          <p:cNvPr id="4" name="Table 3"/>
          <p:cNvGraphicFramePr>
            <a:graphicFrameLocks noGrp="1"/>
          </p:cNvGraphicFramePr>
          <p:nvPr/>
        </p:nvGraphicFramePr>
        <p:xfrm>
          <a:off x="548640" y="2377440"/>
          <a:ext cx="11064240" cy="3401568"/>
        </p:xfrm>
        <a:graphic>
          <a:graphicData uri="http://schemas.openxmlformats.org/drawingml/2006/table">
            <a:tbl>
              <a:tblPr firstRow="1" bandRow="1">
                <a:tableStyleId>{5940675A-B579-460E-94D1-54222C63F5DA}</a:tableStyleId>
              </a:tblPr>
              <a:tblGrid>
                <a:gridCol w="31089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566928">
                <a:tc>
                  <a:txBody>
                    <a:bodyPr/>
                    <a:lstStyle/>
                    <a:p>
                      <a:r>
                        <a:rPr sz="1400" b="1">
                          <a:solidFill>
                            <a:srgbClr val="FFFFFF"/>
                          </a:solidFill>
                        </a:rPr>
                        <a:t>Test (Military Intelligence Pt. 1)</a:t>
                      </a:r>
                    </a:p>
                  </a:txBody>
                  <a:tcPr marL="73152" marR="73152" marT="36576" marB="36576" anchor="ctr">
                    <a:solidFill>
                      <a:srgbClr val="262626"/>
                    </a:solidFill>
                  </a:tcPr>
                </a:tc>
                <a:tc>
                  <a:txBody>
                    <a:bodyPr/>
                    <a:lstStyle/>
                    <a:p>
                      <a:r>
                        <a:rPr sz="1400" b="1">
                          <a:solidFill>
                            <a:srgbClr val="FFFFFF"/>
                          </a:solidFill>
                        </a:rPr>
                        <a:t>Counterexample</a:t>
                      </a:r>
                    </a:p>
                  </a:txBody>
                  <a:tcPr marL="73152" marR="73152" marT="36576" marB="36576" anchor="ctr">
                    <a:solidFill>
                      <a:srgbClr val="262626"/>
                    </a:solidFill>
                  </a:tcPr>
                </a:tc>
                <a:tc>
                  <a:txBody>
                    <a:bodyPr/>
                    <a:lstStyle/>
                    <a:p>
                      <a:r>
                        <a:rPr sz="1400" b="1">
                          <a:solidFill>
                            <a:srgbClr val="FFFFFF"/>
                          </a:solidFill>
                        </a:rPr>
                        <a:t>Result</a:t>
                      </a:r>
                    </a:p>
                  </a:txBody>
                  <a:tcPr marL="73152" marR="73152" marT="36576" marB="36576" anchor="ctr">
                    <a:solidFill>
                      <a:srgbClr val="262626"/>
                    </a:solidFill>
                  </a:tcPr>
                </a:tc>
                <a:extLst>
                  <a:ext uri="{0D108BD9-81ED-4DB2-BD59-A6C34878D82A}">
                    <a16:rowId xmlns:a16="http://schemas.microsoft.com/office/drawing/2014/main" val="10000"/>
                  </a:ext>
                </a:extLst>
              </a:tr>
              <a:tr h="566928">
                <a:tc>
                  <a:txBody>
                    <a:bodyPr/>
                    <a:lstStyle/>
                    <a:p>
                      <a:r>
                        <a:rPr sz="1400" b="0">
                          <a:solidFill>
                            <a:srgbClr val="1F1F1F"/>
                          </a:solidFill>
                        </a:rPr>
                        <a:t>Term true, definition false (sl. 5)</a:t>
                      </a:r>
                    </a:p>
                  </a:txBody>
                  <a:tcPr marL="73152" marR="73152" marT="36576" marB="36576" anchor="ctr">
                    <a:solidFill>
                      <a:srgbClr val="FFFFFF"/>
                    </a:solidFill>
                  </a:tcPr>
                </a:tc>
                <a:tc>
                  <a:txBody>
                    <a:bodyPr/>
                    <a:lstStyle/>
                    <a:p>
                      <a:r>
                        <a:rPr sz="1400" b="0">
                          <a:solidFill>
                            <a:srgbClr val="1F1F1F"/>
                          </a:solidFill>
                        </a:rPr>
                        <a:t>A status briefing where nothing is decided</a:t>
                      </a:r>
                    </a:p>
                  </a:txBody>
                  <a:tcPr marL="73152" marR="73152" marT="36576" marB="36576" anchor="ctr">
                    <a:solidFill>
                      <a:srgbClr val="FFFFFF"/>
                    </a:solidFill>
                  </a:tcPr>
                </a:tc>
                <a:tc>
                  <a:txBody>
                    <a:bodyPr/>
                    <a:lstStyle/>
                    <a:p>
                      <a:r>
                        <a:rPr sz="1400" b="1">
                          <a:solidFill>
                            <a:srgbClr val="C00000"/>
                          </a:solidFill>
                        </a:rPr>
                        <a:t>Fails: </a:t>
                      </a:r>
                      <a:r>
                        <a:rPr sz="1400" b="0">
                          <a:solidFill>
                            <a:srgbClr val="1F1F1F"/>
                          </a:solidFill>
                        </a:rPr>
                        <a:t>"make decisions" isn't true of every meeting</a:t>
                      </a:r>
                    </a:p>
                  </a:txBody>
                  <a:tcPr marL="73152" marR="73152" marT="36576" marB="36576" anchor="ctr">
                    <a:solidFill>
                      <a:srgbClr val="FFFFFF"/>
                    </a:solidFill>
                  </a:tcPr>
                </a:tc>
                <a:extLst>
                  <a:ext uri="{0D108BD9-81ED-4DB2-BD59-A6C34878D82A}">
                    <a16:rowId xmlns:a16="http://schemas.microsoft.com/office/drawing/2014/main" val="10001"/>
                  </a:ext>
                </a:extLst>
              </a:tr>
              <a:tr h="566928">
                <a:tc>
                  <a:txBody>
                    <a:bodyPr/>
                    <a:lstStyle/>
                    <a:p>
                      <a:r>
                        <a:rPr sz="1400" b="0">
                          <a:solidFill>
                            <a:srgbClr val="1F1F1F"/>
                          </a:solidFill>
                        </a:rPr>
                        <a:t>Term true, definition false (sl. 5)</a:t>
                      </a:r>
                    </a:p>
                  </a:txBody>
                  <a:tcPr marL="73152" marR="73152" marT="36576" marB="36576" anchor="ctr">
                    <a:solidFill>
                      <a:srgbClr val="F2F2F2"/>
                    </a:solidFill>
                  </a:tcPr>
                </a:tc>
                <a:tc>
                  <a:txBody>
                    <a:bodyPr/>
                    <a:lstStyle/>
                    <a:p>
                      <a:r>
                        <a:rPr sz="1400" b="0">
                          <a:solidFill>
                            <a:srgbClr val="1F1F1F"/>
                          </a:solidFill>
                        </a:rPr>
                        <a:t>An unscheduled 5-minute corridor huddle</a:t>
                      </a:r>
                    </a:p>
                  </a:txBody>
                  <a:tcPr marL="73152" marR="73152" marT="36576" marB="36576" anchor="ctr">
                    <a:solidFill>
                      <a:srgbClr val="F2F2F2"/>
                    </a:solidFill>
                  </a:tcPr>
                </a:tc>
                <a:tc>
                  <a:txBody>
                    <a:bodyPr/>
                    <a:lstStyle/>
                    <a:p>
                      <a:r>
                        <a:rPr sz="1400" b="1">
                          <a:solidFill>
                            <a:srgbClr val="C00000"/>
                          </a:solidFill>
                        </a:rPr>
                        <a:t>Fails: </a:t>
                      </a:r>
                      <a:r>
                        <a:rPr sz="1400" b="0">
                          <a:solidFill>
                            <a:srgbClr val="1F1F1F"/>
                          </a:solidFill>
                        </a:rPr>
                        <a:t>"a determined period of time" isn't either</a:t>
                      </a:r>
                    </a:p>
                  </a:txBody>
                  <a:tcPr marL="73152" marR="73152" marT="36576" marB="36576" anchor="ctr">
                    <a:solidFill>
                      <a:srgbClr val="F2F2F2"/>
                    </a:solidFill>
                  </a:tcPr>
                </a:tc>
                <a:extLst>
                  <a:ext uri="{0D108BD9-81ED-4DB2-BD59-A6C34878D82A}">
                    <a16:rowId xmlns:a16="http://schemas.microsoft.com/office/drawing/2014/main" val="10002"/>
                  </a:ext>
                </a:extLst>
              </a:tr>
              <a:tr h="566928">
                <a:tc>
                  <a:txBody>
                    <a:bodyPr/>
                    <a:lstStyle/>
                    <a:p>
                      <a:r>
                        <a:rPr sz="1400" b="0">
                          <a:solidFill>
                            <a:srgbClr val="1F1F1F"/>
                          </a:solidFill>
                        </a:rPr>
                        <a:t>Definition true, term false (sl. 5)</a:t>
                      </a:r>
                    </a:p>
                  </a:txBody>
                  <a:tcPr marL="73152" marR="73152" marT="36576" marB="36576" anchor="ctr">
                    <a:solidFill>
                      <a:srgbClr val="FFFFFF"/>
                    </a:solidFill>
                  </a:tcPr>
                </a:tc>
                <a:tc>
                  <a:txBody>
                    <a:bodyPr/>
                    <a:lstStyle/>
                    <a:p>
                      <a:r>
                        <a:rPr sz="1400" b="0">
                          <a:solidFill>
                            <a:srgbClr val="1F1F1F"/>
                          </a:solidFill>
                        </a:rPr>
                        <a:t>A family at dinner deciding on a holiday</a:t>
                      </a:r>
                    </a:p>
                  </a:txBody>
                  <a:tcPr marL="73152" marR="73152" marT="36576" marB="36576" anchor="ctr">
                    <a:solidFill>
                      <a:srgbClr val="FFFFFF"/>
                    </a:solidFill>
                  </a:tcPr>
                </a:tc>
                <a:tc>
                  <a:txBody>
                    <a:bodyPr/>
                    <a:lstStyle/>
                    <a:p>
                      <a:r>
                        <a:rPr sz="1400" b="1">
                          <a:solidFill>
                            <a:srgbClr val="C00000"/>
                          </a:solidFill>
                        </a:rPr>
                        <a:t>Too broad: </a:t>
                      </a:r>
                      <a:r>
                        <a:rPr sz="1400" b="0">
                          <a:solidFill>
                            <a:srgbClr val="1F1F1F"/>
                          </a:solidFill>
                        </a:rPr>
                        <a:t>nothing requires a planned act or common purpose</a:t>
                      </a:r>
                    </a:p>
                  </a:txBody>
                  <a:tcPr marL="73152" marR="73152" marT="36576" marB="36576" anchor="ctr">
                    <a:solidFill>
                      <a:srgbClr val="FFFFFF"/>
                    </a:solidFill>
                  </a:tcPr>
                </a:tc>
                <a:extLst>
                  <a:ext uri="{0D108BD9-81ED-4DB2-BD59-A6C34878D82A}">
                    <a16:rowId xmlns:a16="http://schemas.microsoft.com/office/drawing/2014/main" val="10003"/>
                  </a:ext>
                </a:extLst>
              </a:tr>
              <a:tr h="566928">
                <a:tc>
                  <a:txBody>
                    <a:bodyPr/>
                    <a:lstStyle/>
                    <a:p>
                      <a:r>
                        <a:rPr sz="1400" b="0">
                          <a:solidFill>
                            <a:srgbClr val="1F1F1F"/>
                          </a:solidFill>
                        </a:rPr>
                        <a:t>Avoid negative language (sl. 12–27)</a:t>
                      </a:r>
                    </a:p>
                  </a:txBody>
                  <a:tcPr marL="73152" marR="73152" marT="36576" marB="36576" anchor="ctr">
                    <a:solidFill>
                      <a:srgbClr val="F2F2F2"/>
                    </a:solidFill>
                  </a:tcPr>
                </a:tc>
                <a:tc>
                  <a:txBody>
                    <a:bodyPr/>
                    <a:lstStyle/>
                    <a:p>
                      <a:r>
                        <a:rPr sz="1400" b="0">
                          <a:solidFill>
                            <a:srgbClr val="1F1F1F"/>
                          </a:solidFill>
                        </a:rPr>
                        <a:t>—</a:t>
                      </a:r>
                    </a:p>
                  </a:txBody>
                  <a:tcPr marL="73152" marR="73152" marT="36576" marB="36576" anchor="ctr">
                    <a:solidFill>
                      <a:srgbClr val="F2F2F2"/>
                    </a:solidFill>
                  </a:tcPr>
                </a:tc>
                <a:tc>
                  <a:txBody>
                    <a:bodyPr/>
                    <a:lstStyle/>
                    <a:p>
                      <a:r>
                        <a:rPr sz="1400" b="1">
                          <a:solidFill>
                            <a:srgbClr val="1F1F1F"/>
                          </a:solidFill>
                        </a:rPr>
                        <a:t>Passes. </a:t>
                      </a:r>
                      <a:r>
                        <a:rPr sz="1400" b="0">
                          <a:solidFill>
                            <a:srgbClr val="1F1F1F"/>
                          </a:solidFill>
                        </a:rPr>
                        <a:t>Keep it that way: define a subtype, not a "non-decision meeting"</a:t>
                      </a:r>
                    </a:p>
                  </a:txBody>
                  <a:tcPr marL="73152" marR="73152" marT="36576" marB="36576" anchor="ctr">
                    <a:solidFill>
                      <a:srgbClr val="F2F2F2"/>
                    </a:solidFill>
                  </a:tcPr>
                </a:tc>
                <a:extLst>
                  <a:ext uri="{0D108BD9-81ED-4DB2-BD59-A6C34878D82A}">
                    <a16:rowId xmlns:a16="http://schemas.microsoft.com/office/drawing/2014/main" val="10004"/>
                  </a:ext>
                </a:extLst>
              </a:tr>
              <a:tr h="566928">
                <a:tc>
                  <a:txBody>
                    <a:bodyPr/>
                    <a:lstStyle/>
                    <a:p>
                      <a:r>
                        <a:rPr sz="1400" b="0">
                          <a:solidFill>
                            <a:srgbClr val="1F1F1F"/>
                          </a:solidFill>
                        </a:rPr>
                        <a:t>Word-to-world (sl. 30–32)</a:t>
                      </a:r>
                    </a:p>
                  </a:txBody>
                  <a:tcPr marL="73152" marR="73152" marT="36576" marB="36576" anchor="ctr">
                    <a:solidFill>
                      <a:srgbClr val="FFFFFF"/>
                    </a:solidFill>
                  </a:tcPr>
                </a:tc>
                <a:tc>
                  <a:txBody>
                    <a:bodyPr/>
                    <a:lstStyle/>
                    <a:p>
                      <a:r>
                        <a:rPr sz="1400" b="0">
                          <a:solidFill>
                            <a:srgbClr val="1F1F1F"/>
                          </a:solidFill>
                        </a:rPr>
                        <a:t>"make decisions (mandates)"</a:t>
                      </a:r>
                    </a:p>
                  </a:txBody>
                  <a:tcPr marL="73152" marR="73152" marT="36576" marB="36576" anchor="ctr">
                    <a:solidFill>
                      <a:srgbClr val="FFFFFF"/>
                    </a:solidFill>
                  </a:tcPr>
                </a:tc>
                <a:tc>
                  <a:txBody>
                    <a:bodyPr/>
                    <a:lstStyle/>
                    <a:p>
                      <a:r>
                        <a:rPr sz="1400" b="1">
                          <a:solidFill>
                            <a:srgbClr val="C00000"/>
                          </a:solidFill>
                        </a:rPr>
                        <a:t>Conflates </a:t>
                      </a:r>
                      <a:r>
                        <a:rPr sz="1400" b="0">
                          <a:solidFill>
                            <a:srgbClr val="1F1F1F"/>
                          </a:solidFill>
                        </a:rPr>
                        <a:t>an act (deciding) with its output (the mandate)</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548640" y="6172200"/>
            <a:ext cx="11064240" cy="365760"/>
          </a:xfrm>
          <a:prstGeom prst="rect">
            <a:avLst/>
          </a:prstGeom>
          <a:noFill/>
        </p:spPr>
        <p:txBody>
          <a:bodyPr wrap="square">
            <a:spAutoFit/>
          </a:bodyPr>
          <a:lstStyle/>
          <a:p>
            <a:r>
              <a:rPr sz="1100" i="1">
                <a:solidFill>
                  <a:srgbClr val="595959"/>
                </a:solidFill>
              </a:rPr>
              <a:t>A definition is a pair &lt;T, E&gt;: T is true of a domain just in case E is (Military Intelligence Part 1, slide 4).</a:t>
            </a:r>
          </a:p>
        </p:txBody>
      </p:sp>
    </p:spTree>
    <p:extLst>
      <p:ext uri="{BB962C8B-B14F-4D97-AF65-F5344CB8AC3E}">
        <p14:creationId xmlns:p14="http://schemas.microsoft.com/office/powerpoint/2010/main" val="3414047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Step 1 revised: v2 definitions</a:t>
            </a:r>
          </a:p>
        </p:txBody>
      </p:sp>
      <p:sp>
        <p:nvSpPr>
          <p:cNvPr id="3" name="Content Placeholder 2"/>
          <p:cNvSpPr>
            <a:spLocks noGrp="1"/>
          </p:cNvSpPr>
          <p:nvPr>
            <p:ph idx="1"/>
          </p:nvPr>
        </p:nvSpPr>
        <p:spPr>
          <a:xfrm>
            <a:off x="548640" y="1325880"/>
            <a:ext cx="6035040" cy="4846320"/>
          </a:xfrm>
        </p:spPr>
        <p:txBody>
          <a:bodyPr/>
          <a:lstStyle/>
          <a:p>
            <a:r>
              <a:rPr sz="1800" b="1"/>
              <a:t>Meeting</a:t>
            </a:r>
            <a:r>
              <a:rPr sz="1800" b="0"/>
              <a:t> =def an act of association in which two or more persons, sharing a place or connected through a communication artifact, communicate about one or more topics for a common purpose</a:t>
            </a:r>
          </a:p>
          <a:p>
            <a:r>
              <a:rPr sz="1800" b="1"/>
              <a:t>Decision meeting</a:t>
            </a:r>
            <a:r>
              <a:rPr sz="1800" b="0"/>
              <a:t> =def a meeting that has as part an act of directive communication, by a person bearing an authority role, whose output is a mandate</a:t>
            </a:r>
          </a:p>
          <a:p>
            <a:r>
              <a:rPr sz="1800" b="1"/>
              <a:t>Mandate</a:t>
            </a:r>
            <a:r>
              <a:rPr sz="1800" b="0"/>
              <a:t> =def a process regulation that is the output of an act of directive communication in a meeting</a:t>
            </a:r>
          </a:p>
        </p:txBody>
      </p:sp>
      <p:graphicFrame>
        <p:nvGraphicFramePr>
          <p:cNvPr id="4" name="Table 3"/>
          <p:cNvGraphicFramePr>
            <a:graphicFrameLocks noGrp="1"/>
          </p:cNvGraphicFramePr>
          <p:nvPr/>
        </p:nvGraphicFramePr>
        <p:xfrm>
          <a:off x="6858000" y="1463040"/>
          <a:ext cx="4846320" cy="2514600"/>
        </p:xfrm>
        <a:graphic>
          <a:graphicData uri="http://schemas.openxmlformats.org/drawingml/2006/table">
            <a:tbl>
              <a:tblPr firstRow="1" bandRow="1">
                <a:tableStyleId>{5940675A-B579-460E-94D1-54222C63F5DA}</a:tableStyleId>
              </a:tblPr>
              <a:tblGrid>
                <a:gridCol w="26517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502920">
                <a:tc>
                  <a:txBody>
                    <a:bodyPr/>
                    <a:lstStyle/>
                    <a:p>
                      <a:r>
                        <a:rPr sz="1300" b="1">
                          <a:solidFill>
                            <a:srgbClr val="FFFFFF"/>
                          </a:solidFill>
                        </a:rPr>
                        <a:t>Case</a:t>
                      </a:r>
                    </a:p>
                  </a:txBody>
                  <a:tcPr marL="73152" marR="73152" marT="36576" marB="36576" anchor="ctr">
                    <a:solidFill>
                      <a:srgbClr val="262626"/>
                    </a:solidFill>
                  </a:tcPr>
                </a:tc>
                <a:tc>
                  <a:txBody>
                    <a:bodyPr/>
                    <a:lstStyle/>
                    <a:p>
                      <a:r>
                        <a:rPr sz="1300" b="1">
                          <a:solidFill>
                            <a:srgbClr val="FFFFFF"/>
                          </a:solidFill>
                        </a:rPr>
                        <a:t>Meeting?</a:t>
                      </a:r>
                    </a:p>
                  </a:txBody>
                  <a:tcPr marL="73152" marR="73152" marT="36576" marB="36576" anchor="ctr">
                    <a:solidFill>
                      <a:srgbClr val="262626"/>
                    </a:solidFill>
                  </a:tcPr>
                </a:tc>
                <a:tc>
                  <a:txBody>
                    <a:bodyPr/>
                    <a:lstStyle/>
                    <a:p>
                      <a:r>
                        <a:rPr sz="1300" b="1">
                          <a:solidFill>
                            <a:srgbClr val="FFFFFF"/>
                          </a:solidFill>
                        </a:rPr>
                        <a:t>Decision mtg?</a:t>
                      </a:r>
                    </a:p>
                  </a:txBody>
                  <a:tcPr marL="73152" marR="73152" marT="36576" marB="36576" anchor="ctr">
                    <a:solidFill>
                      <a:srgbClr val="262626"/>
                    </a:solidFill>
                  </a:tcPr>
                </a:tc>
                <a:extLst>
                  <a:ext uri="{0D108BD9-81ED-4DB2-BD59-A6C34878D82A}">
                    <a16:rowId xmlns:a16="http://schemas.microsoft.com/office/drawing/2014/main" val="10000"/>
                  </a:ext>
                </a:extLst>
              </a:tr>
              <a:tr h="502920">
                <a:tc>
                  <a:txBody>
                    <a:bodyPr/>
                    <a:lstStyle/>
                    <a:p>
                      <a:r>
                        <a:rPr sz="1300" b="0">
                          <a:solidFill>
                            <a:srgbClr val="1F1F1F"/>
                          </a:solidFill>
                        </a:rPr>
                        <a:t>Status briefing, nothing decided</a:t>
                      </a:r>
                    </a:p>
                  </a:txBody>
                  <a:tcPr marL="73152" marR="73152" marT="36576" marB="36576" anchor="ctr">
                    <a:solidFill>
                      <a:srgbClr val="FFFFFF"/>
                    </a:solidFill>
                  </a:tcPr>
                </a:tc>
                <a:tc>
                  <a:txBody>
                    <a:bodyPr/>
                    <a:lstStyle/>
                    <a:p>
                      <a:r>
                        <a:rPr sz="1300" b="0">
                          <a:solidFill>
                            <a:srgbClr val="1F1F1F"/>
                          </a:solidFill>
                        </a:rPr>
                        <a:t>✓</a:t>
                      </a:r>
                    </a:p>
                  </a:txBody>
                  <a:tcPr marL="73152" marR="73152" marT="36576" marB="36576" anchor="ctr">
                    <a:solidFill>
                      <a:srgbClr val="FFFFFF"/>
                    </a:solidFill>
                  </a:tcPr>
                </a:tc>
                <a:tc>
                  <a:txBody>
                    <a:bodyPr/>
                    <a:lstStyle/>
                    <a:p>
                      <a:r>
                        <a:rPr sz="1300" b="0">
                          <a:solidFill>
                            <a:srgbClr val="1F1F1F"/>
                          </a:solidFill>
                        </a:rPr>
                        <a:t>✗ (correct)</a:t>
                      </a:r>
                    </a:p>
                  </a:txBody>
                  <a:tcPr marL="73152" marR="73152" marT="36576" marB="36576" anchor="ctr">
                    <a:solidFill>
                      <a:srgbClr val="FFFFFF"/>
                    </a:solidFill>
                  </a:tcPr>
                </a:tc>
                <a:extLst>
                  <a:ext uri="{0D108BD9-81ED-4DB2-BD59-A6C34878D82A}">
                    <a16:rowId xmlns:a16="http://schemas.microsoft.com/office/drawing/2014/main" val="10001"/>
                  </a:ext>
                </a:extLst>
              </a:tr>
              <a:tr h="502920">
                <a:tc>
                  <a:txBody>
                    <a:bodyPr/>
                    <a:lstStyle/>
                    <a:p>
                      <a:r>
                        <a:rPr sz="1300" b="0">
                          <a:solidFill>
                            <a:srgbClr val="1F1F1F"/>
                          </a:solidFill>
                        </a:rPr>
                        <a:t>Corridor huddle that settles an issue</a:t>
                      </a:r>
                    </a:p>
                  </a:txBody>
                  <a:tcPr marL="73152" marR="73152" marT="36576" marB="36576" anchor="ctr">
                    <a:solidFill>
                      <a:srgbClr val="F2F2F2"/>
                    </a:solidFill>
                  </a:tcPr>
                </a:tc>
                <a:tc>
                  <a:txBody>
                    <a:bodyPr/>
                    <a:lstStyle/>
                    <a:p>
                      <a:r>
                        <a:rPr sz="1300" b="0">
                          <a:solidFill>
                            <a:srgbClr val="1F1F1F"/>
                          </a:solidFill>
                        </a:rPr>
                        <a:t>✓</a:t>
                      </a:r>
                    </a:p>
                  </a:txBody>
                  <a:tcPr marL="73152" marR="73152" marT="36576" marB="36576" anchor="ctr">
                    <a:solidFill>
                      <a:srgbClr val="F2F2F2"/>
                    </a:solidFill>
                  </a:tcPr>
                </a:tc>
                <a:tc>
                  <a:txBody>
                    <a:bodyPr/>
                    <a:lstStyle/>
                    <a:p>
                      <a:r>
                        <a:rPr sz="1300" b="0">
                          <a:solidFill>
                            <a:srgbClr val="1F1F1F"/>
                          </a:solidFill>
                        </a:rPr>
                        <a:t>✓</a:t>
                      </a:r>
                    </a:p>
                  </a:txBody>
                  <a:tcPr marL="73152" marR="73152" marT="36576" marB="36576" anchor="ctr">
                    <a:solidFill>
                      <a:srgbClr val="F2F2F2"/>
                    </a:solidFill>
                  </a:tcPr>
                </a:tc>
                <a:extLst>
                  <a:ext uri="{0D108BD9-81ED-4DB2-BD59-A6C34878D82A}">
                    <a16:rowId xmlns:a16="http://schemas.microsoft.com/office/drawing/2014/main" val="10002"/>
                  </a:ext>
                </a:extLst>
              </a:tr>
              <a:tr h="502920">
                <a:tc>
                  <a:txBody>
                    <a:bodyPr/>
                    <a:lstStyle/>
                    <a:p>
                      <a:r>
                        <a:rPr sz="1300" b="0">
                          <a:solidFill>
                            <a:srgbClr val="1F1F1F"/>
                          </a:solidFill>
                        </a:rPr>
                        <a:t>Family dinner deciding a holiday</a:t>
                      </a:r>
                    </a:p>
                  </a:txBody>
                  <a:tcPr marL="73152" marR="73152" marT="36576" marB="36576" anchor="ctr">
                    <a:solidFill>
                      <a:srgbClr val="FFFFFF"/>
                    </a:solidFill>
                  </a:tcPr>
                </a:tc>
                <a:tc>
                  <a:txBody>
                    <a:bodyPr/>
                    <a:lstStyle/>
                    <a:p>
                      <a:r>
                        <a:rPr sz="1300" b="0">
                          <a:solidFill>
                            <a:srgbClr val="1F1F1F"/>
                          </a:solidFill>
                        </a:rPr>
                        <a:t>✗</a:t>
                      </a:r>
                    </a:p>
                  </a:txBody>
                  <a:tcPr marL="73152" marR="73152" marT="36576" marB="36576" anchor="ctr">
                    <a:solidFill>
                      <a:srgbClr val="FFFFFF"/>
                    </a:solidFill>
                  </a:tcPr>
                </a:tc>
                <a:tc>
                  <a:txBody>
                    <a:bodyPr/>
                    <a:lstStyle/>
                    <a:p>
                      <a:r>
                        <a:rPr sz="1300" b="0">
                          <a:solidFill>
                            <a:srgbClr val="1F1F1F"/>
                          </a:solidFill>
                        </a:rPr>
                        <a:t>—</a:t>
                      </a:r>
                    </a:p>
                  </a:txBody>
                  <a:tcPr marL="73152" marR="73152" marT="36576" marB="36576" anchor="ctr">
                    <a:solidFill>
                      <a:srgbClr val="FFFFFF"/>
                    </a:solidFill>
                  </a:tcPr>
                </a:tc>
                <a:extLst>
                  <a:ext uri="{0D108BD9-81ED-4DB2-BD59-A6C34878D82A}">
                    <a16:rowId xmlns:a16="http://schemas.microsoft.com/office/drawing/2014/main" val="10003"/>
                  </a:ext>
                </a:extLst>
              </a:tr>
              <a:tr h="502920">
                <a:tc>
                  <a:txBody>
                    <a:bodyPr/>
                    <a:lstStyle/>
                    <a:p>
                      <a:r>
                        <a:rPr sz="1300" b="0">
                          <a:solidFill>
                            <a:srgbClr val="1F1F1F"/>
                          </a:solidFill>
                        </a:rPr>
                        <a:t>Board meeting, chair issues a directive</a:t>
                      </a:r>
                    </a:p>
                  </a:txBody>
                  <a:tcPr marL="73152" marR="73152" marT="36576" marB="36576" anchor="ctr">
                    <a:solidFill>
                      <a:srgbClr val="F2F2F2"/>
                    </a:solidFill>
                  </a:tcPr>
                </a:tc>
                <a:tc>
                  <a:txBody>
                    <a:bodyPr/>
                    <a:lstStyle/>
                    <a:p>
                      <a:r>
                        <a:rPr sz="1300" b="0">
                          <a:solidFill>
                            <a:srgbClr val="1F1F1F"/>
                          </a:solidFill>
                        </a:rPr>
                        <a:t>✓</a:t>
                      </a:r>
                    </a:p>
                  </a:txBody>
                  <a:tcPr marL="73152" marR="73152" marT="36576" marB="36576" anchor="ctr">
                    <a:solidFill>
                      <a:srgbClr val="F2F2F2"/>
                    </a:solidFill>
                  </a:tcPr>
                </a:tc>
                <a:tc>
                  <a:txBody>
                    <a:bodyPr/>
                    <a:lstStyle/>
                    <a:p>
                      <a:r>
                        <a:rPr sz="1300" b="0">
                          <a:solidFill>
                            <a:srgbClr val="1F1F1F"/>
                          </a:solidFill>
                        </a:rPr>
                        <a:t>✓</a:t>
                      </a:r>
                    </a:p>
                  </a:txBody>
                  <a:tcPr marL="73152" marR="73152" marT="36576" marB="36576" anchor="ctr">
                    <a:solidFill>
                      <a:srgbClr val="F2F2F2"/>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6858000" y="4206240"/>
            <a:ext cx="4846320" cy="1828800"/>
          </a:xfrm>
          <a:prstGeom prst="rect">
            <a:avLst/>
          </a:prstGeom>
          <a:noFill/>
        </p:spPr>
        <p:txBody>
          <a:bodyPr wrap="square">
            <a:spAutoFit/>
          </a:bodyPr>
          <a:lstStyle/>
          <a:p>
            <a:r>
              <a:rPr sz="1200" i="1">
                <a:solidFill>
                  <a:srgbClr val="595959"/>
                </a:solidFill>
              </a:rPr>
              <a:t>What changed: genus from CCO Act of Meeting ("…assemble for some common purpose"). "Determined period" dropped: every meeting takes time, but not every one is scheduled. Deciding moved to a subtype, so the class is split from the inside with no negative definition (sl. 21–24).
Open: "common purpose" carries a lot of weight.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F2C37-712D-A59A-6C2F-C44F129F4A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687297-1C8F-01C1-473B-708F40C0C551}"/>
              </a:ext>
            </a:extLst>
          </p:cNvPr>
          <p:cNvSpPr>
            <a:spLocks noGrp="1"/>
          </p:cNvSpPr>
          <p:nvPr>
            <p:ph type="title"/>
          </p:nvPr>
        </p:nvSpPr>
        <p:spPr/>
        <p:txBody>
          <a:bodyPr/>
          <a:lstStyle/>
          <a:p>
            <a:r>
              <a:t>Step 2: Build BPMN map (two acts, not one)</a:t>
            </a:r>
          </a:p>
        </p:txBody>
      </p:sp>
      <p:pic>
        <p:nvPicPr>
          <p:cNvPr id="6" name="Content Placeholder 5">
            <a:extLst>
              <a:ext uri="{FF2B5EF4-FFF2-40B4-BE49-F238E27FC236}">
                <a16:creationId xmlns:a16="http://schemas.microsoft.com/office/drawing/2014/main" id="{F61F50F2-0671-8983-527A-CEF85B0D3CF4}"/>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81146" y="1339970"/>
            <a:ext cx="12029707" cy="4928558"/>
          </a:xfrm>
          <a:prstGeom prst="rect">
            <a:avLst/>
          </a:prstGeom>
        </p:spPr>
      </p:pic>
      <p:sp>
        <p:nvSpPr>
          <p:cNvPr id="7" name="Rounded Rectangle 6"/>
          <p:cNvSpPr/>
          <p:nvPr/>
        </p:nvSpPr>
        <p:spPr>
          <a:xfrm>
            <a:off x="7424927" y="4873752"/>
            <a:ext cx="1060704" cy="877824"/>
          </a:xfrm>
          <a:prstGeom prst="roundRect">
            <a:avLst/>
          </a:prstGeom>
          <a:noFill/>
          <a:ln w="4445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9025128" y="4873752"/>
            <a:ext cx="1060704" cy="877824"/>
          </a:xfrm>
          <a:prstGeom prst="roundRect">
            <a:avLst/>
          </a:prstGeom>
          <a:noFill/>
          <a:ln w="4445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400800" y="2926080"/>
            <a:ext cx="2514600" cy="1325880"/>
          </a:xfrm>
          <a:prstGeom prst="roundRect">
            <a:avLst>
              <a:gd name="adj" fmla="val 12000"/>
            </a:avLst>
          </a:prstGeom>
          <a:solidFill>
            <a:srgbClr val="FFFFFF"/>
          </a:solidFill>
          <a:ln w="254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a:solidFill>
                  <a:srgbClr val="C55A11"/>
                </a:solidFill>
              </a:rPr>
              <a:t>Speech act</a:t>
            </a:r>
          </a:p>
          <a:p>
            <a:pPr algn="l"/>
            <a:r>
              <a:rPr sz="1100" b="0">
                <a:solidFill>
                  <a:srgbClr val="1F1F1F"/>
                </a:solidFill>
              </a:rPr>
              <a:t>Creates the obligation. Felicity condition: the chair bears the authority (Document Acts, pp. 9–10)</a:t>
            </a:r>
          </a:p>
        </p:txBody>
      </p:sp>
      <p:sp>
        <p:nvSpPr>
          <p:cNvPr id="10" name="Rounded Rectangle 9"/>
          <p:cNvSpPr/>
          <p:nvPr/>
        </p:nvSpPr>
        <p:spPr>
          <a:xfrm>
            <a:off x="9144000" y="2926080"/>
            <a:ext cx="2697480" cy="1325880"/>
          </a:xfrm>
          <a:prstGeom prst="roundRect">
            <a:avLst>
              <a:gd name="adj" fmla="val 12000"/>
            </a:avLst>
          </a:prstGeom>
          <a:solidFill>
            <a:srgbClr val="FFFFFF"/>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a:solidFill>
                  <a:srgbClr val="1F4E79"/>
                </a:solidFill>
              </a:rPr>
              <a:t>Document act</a:t>
            </a:r>
          </a:p>
          <a:p>
            <a:pPr algn="l"/>
            <a:r>
              <a:rPr sz="1100" b="0">
                <a:solidFill>
                  <a:srgbClr val="1F1F1F"/>
                </a:solidFill>
              </a:rPr>
              <a:t>Makes the obligation official and lasting, beyond the memory of those in the room (Document Acts, pp. 6, 9)</a:t>
            </a:r>
          </a:p>
        </p:txBody>
      </p:sp>
      <p:cxnSp>
        <p:nvCxnSpPr>
          <p:cNvPr id="11" name="Connector 10"/>
          <p:cNvCxnSpPr/>
          <p:nvPr/>
        </p:nvCxnSpPr>
        <p:spPr>
          <a:xfrm>
            <a:off x="7955279" y="4251960"/>
            <a:ext cx="0" cy="621792"/>
          </a:xfrm>
          <a:prstGeom prst="line">
            <a:avLst/>
          </a:prstGeom>
          <a:ln w="25400">
            <a:solidFill>
              <a:srgbClr val="C55A1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55480" y="4251960"/>
            <a:ext cx="0" cy="621792"/>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228460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859AA-D245-CDBB-A700-4624362E21E1}"/>
              </a:ext>
            </a:extLst>
          </p:cNvPr>
          <p:cNvSpPr>
            <a:spLocks noGrp="1"/>
          </p:cNvSpPr>
          <p:nvPr>
            <p:ph type="title"/>
          </p:nvPr>
        </p:nvSpPr>
        <p:spPr/>
        <p:txBody>
          <a:bodyPr/>
          <a:lstStyle/>
          <a:p>
            <a:r>
              <a:rPr lang="en-US" dirty="0"/>
              <a:t>Step 3: Apply rules of Thumb </a:t>
            </a:r>
          </a:p>
        </p:txBody>
      </p:sp>
      <p:sp>
        <p:nvSpPr>
          <p:cNvPr id="6" name="Content Placeholder 5">
            <a:extLst>
              <a:ext uri="{FF2B5EF4-FFF2-40B4-BE49-F238E27FC236}">
                <a16:creationId xmlns:a16="http://schemas.microsoft.com/office/drawing/2014/main" id="{9EC3F756-326C-E450-E832-F38EE3083682}"/>
              </a:ext>
            </a:extLst>
          </p:cNvPr>
          <p:cNvSpPr>
            <a:spLocks noGrp="1"/>
          </p:cNvSpPr>
          <p:nvPr>
            <p:ph idx="1"/>
          </p:nvPr>
        </p:nvSpPr>
        <p:spPr/>
        <p:txBody>
          <a:bodyPr>
            <a:normAutofit fontScale="77500" lnSpcReduction="20000"/>
          </a:bodyPr>
          <a:lstStyle/>
          <a:p>
            <a:r>
              <a:rPr lang="en-US" dirty="0"/>
              <a:t>Slot 1: Material Entity</a:t>
            </a:r>
          </a:p>
          <a:p>
            <a:r>
              <a:rPr lang="en-US" dirty="0"/>
              <a:t>Slot 2: Quality</a:t>
            </a:r>
          </a:p>
          <a:p>
            <a:r>
              <a:rPr lang="en-US" dirty="0"/>
              <a:t>Slot 3: Process</a:t>
            </a:r>
          </a:p>
          <a:p>
            <a:r>
              <a:rPr lang="en-US" dirty="0"/>
              <a:t>Slot 4: Realizable Entity</a:t>
            </a:r>
          </a:p>
          <a:p>
            <a:r>
              <a:rPr lang="en-US" dirty="0"/>
              <a:t>Slot 5: Where</a:t>
            </a:r>
          </a:p>
          <a:p>
            <a:r>
              <a:rPr lang="en-US" dirty="0"/>
              <a:t>Slot 6: When</a:t>
            </a:r>
          </a:p>
          <a:p>
            <a:r>
              <a:rPr lang="en-US" dirty="0"/>
              <a:t>Slot 7: Information</a:t>
            </a:r>
            <a:br>
              <a:rPr lang="en-US" dirty="0"/>
            </a:br>
            <a:br>
              <a:rPr lang="en-US" dirty="0"/>
            </a:br>
            <a:br>
              <a:rPr lang="en-US" dirty="0"/>
            </a:br>
            <a:br>
              <a:rPr lang="en-US" dirty="0"/>
            </a:br>
            <a:br>
              <a:rPr lang="en-US" dirty="0"/>
            </a:br>
            <a:br>
              <a:rPr lang="en-US" dirty="0"/>
            </a:br>
            <a:br>
              <a:rPr lang="en-US" dirty="0"/>
            </a:br>
            <a:endParaRPr lang="en-US" dirty="0"/>
          </a:p>
        </p:txBody>
      </p:sp>
      <p:pic>
        <p:nvPicPr>
          <p:cNvPr id="4" name="Picture 3">
            <a:extLst>
              <a:ext uri="{FF2B5EF4-FFF2-40B4-BE49-F238E27FC236}">
                <a16:creationId xmlns:a16="http://schemas.microsoft.com/office/drawing/2014/main" id="{0839AE12-F99A-226A-E67E-459404A26619}"/>
              </a:ext>
            </a:extLst>
          </p:cNvPr>
          <p:cNvPicPr>
            <a:picLocks noChangeAspect="1"/>
          </p:cNvPicPr>
          <p:nvPr/>
        </p:nvPicPr>
        <p:blipFill>
          <a:blip r:embed="rId2"/>
          <a:stretch>
            <a:fillRect/>
          </a:stretch>
        </p:blipFill>
        <p:spPr>
          <a:xfrm>
            <a:off x="7646893" y="1225176"/>
            <a:ext cx="4545107" cy="5632824"/>
          </a:xfrm>
          <a:prstGeom prst="rect">
            <a:avLst/>
          </a:prstGeom>
        </p:spPr>
      </p:pic>
    </p:spTree>
    <p:extLst>
      <p:ext uri="{BB962C8B-B14F-4D97-AF65-F5344CB8AC3E}">
        <p14:creationId xmlns:p14="http://schemas.microsoft.com/office/powerpoint/2010/main" val="22930905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51E67-381E-E27E-853C-F2760F29B9D6}"/>
              </a:ext>
            </a:extLst>
          </p:cNvPr>
          <p:cNvSpPr>
            <a:spLocks noGrp="1"/>
          </p:cNvSpPr>
          <p:nvPr>
            <p:ph type="title"/>
          </p:nvPr>
        </p:nvSpPr>
        <p:spPr/>
        <p:txBody>
          <a:bodyPr>
            <a:normAutofit/>
          </a:bodyPr>
          <a:lstStyle/>
          <a:p>
            <a:r>
              <a:rPr lang="en-US" dirty="0"/>
              <a:t>Step 4: Lookup BFO/CCO lenses on to build Design pattern </a:t>
            </a:r>
          </a:p>
        </p:txBody>
      </p:sp>
      <p:sp>
        <p:nvSpPr>
          <p:cNvPr id="3" name="Content Placeholder 2">
            <a:extLst>
              <a:ext uri="{FF2B5EF4-FFF2-40B4-BE49-F238E27FC236}">
                <a16:creationId xmlns:a16="http://schemas.microsoft.com/office/drawing/2014/main" id="{2F2486D9-12E7-7F2C-028D-301799912A32}"/>
              </a:ext>
            </a:extLst>
          </p:cNvPr>
          <p:cNvSpPr>
            <a:spLocks noGrp="1"/>
          </p:cNvSpPr>
          <p:nvPr>
            <p:ph idx="1"/>
          </p:nvPr>
        </p:nvSpPr>
        <p:spPr>
          <a:xfrm>
            <a:off x="838200" y="1825625"/>
            <a:ext cx="5974976" cy="4351338"/>
          </a:xfrm>
        </p:spPr>
        <p:txBody>
          <a:bodyPr>
            <a:normAutofit/>
          </a:bodyPr>
          <a:lstStyle/>
          <a:p>
            <a:r>
              <a:rPr lang="en-US" sz="2000" dirty="0"/>
              <a:t>Every term below was looked up in the index built from </a:t>
            </a:r>
            <a:r>
              <a:rPr lang="en-US" sz="2000" b="1" dirty="0"/>
              <a:t>CCO v2.2 (2026-08-13)</a:t>
            </a:r>
            <a:r>
              <a:rPr lang="en-US" sz="2000" dirty="0"/>
              <a:t>, which includes BFO 2020. </a:t>
            </a:r>
          </a:p>
          <a:p>
            <a:r>
              <a:rPr lang="en-US" sz="2000" b="1" dirty="0"/>
              <a:t>Marks:</a:t>
            </a:r>
            <a:r>
              <a:rPr lang="en-US" sz="2000" dirty="0"/>
              <a:t> ✓ exact CCO match · ~ near match ·  </a:t>
            </a:r>
          </a:p>
          <a:p>
            <a:pPr lvl="1"/>
            <a:r>
              <a:rPr lang="en-US" sz="1600" dirty="0"/>
              <a:t>proposed new term · </a:t>
            </a:r>
            <a:r>
              <a:rPr lang="en-US" sz="1600" b="1" dirty="0"/>
              <a:t>— stays at BFO</a:t>
            </a:r>
            <a:r>
              <a:rPr lang="en-US" sz="1600" dirty="0"/>
              <a:t> means CCO has nothing and the pattern doesn't need anything more specific</a:t>
            </a:r>
          </a:p>
          <a:p>
            <a:endParaRPr lang="en-US" sz="2000" dirty="0"/>
          </a:p>
        </p:txBody>
      </p:sp>
      <p:pic>
        <p:nvPicPr>
          <p:cNvPr id="8" name="Picture 7">
            <a:extLst>
              <a:ext uri="{FF2B5EF4-FFF2-40B4-BE49-F238E27FC236}">
                <a16:creationId xmlns:a16="http://schemas.microsoft.com/office/drawing/2014/main" id="{CE95CB34-2D66-137C-56D8-36132FC84D0B}"/>
              </a:ext>
            </a:extLst>
          </p:cNvPr>
          <p:cNvPicPr>
            <a:picLocks noChangeAspect="1"/>
          </p:cNvPicPr>
          <p:nvPr/>
        </p:nvPicPr>
        <p:blipFill>
          <a:blip r:embed="rId2"/>
          <a:stretch>
            <a:fillRect/>
          </a:stretch>
        </p:blipFill>
        <p:spPr>
          <a:xfrm>
            <a:off x="7536329" y="1028496"/>
            <a:ext cx="4655671" cy="5829503"/>
          </a:xfrm>
          <a:prstGeom prst="rect">
            <a:avLst/>
          </a:prstGeom>
        </p:spPr>
      </p:pic>
    </p:spTree>
    <p:extLst>
      <p:ext uri="{BB962C8B-B14F-4D97-AF65-F5344CB8AC3E}">
        <p14:creationId xmlns:p14="http://schemas.microsoft.com/office/powerpoint/2010/main" val="10164182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30113-6AD7-22BE-28C3-7D12232628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F9E9EA-79AF-93CD-6609-9FD202798049}"/>
              </a:ext>
            </a:extLst>
          </p:cNvPr>
          <p:cNvSpPr>
            <a:spLocks noGrp="1"/>
          </p:cNvSpPr>
          <p:nvPr>
            <p:ph type="title"/>
          </p:nvPr>
        </p:nvSpPr>
        <p:spPr/>
        <p:txBody>
          <a:bodyPr/>
          <a:lstStyle/>
          <a:p>
            <a:r>
              <a:rPr lang="en-US" dirty="0"/>
              <a:t>Steps 5 the workshop</a:t>
            </a:r>
          </a:p>
        </p:txBody>
      </p:sp>
      <p:sp>
        <p:nvSpPr>
          <p:cNvPr id="4" name="Content Placeholder 3">
            <a:extLst>
              <a:ext uri="{FF2B5EF4-FFF2-40B4-BE49-F238E27FC236}">
                <a16:creationId xmlns:a16="http://schemas.microsoft.com/office/drawing/2014/main" id="{952A16AB-0407-300A-15FC-B73490947738}"/>
              </a:ext>
            </a:extLst>
          </p:cNvPr>
          <p:cNvSpPr>
            <a:spLocks noGrp="1"/>
          </p:cNvSpPr>
          <p:nvPr>
            <p:ph idx="1"/>
          </p:nvPr>
        </p:nvSpPr>
        <p:spPr>
          <a:xfrm>
            <a:off x="838200" y="1825625"/>
            <a:ext cx="5664897" cy="4351338"/>
          </a:xfrm>
        </p:spPr>
        <p:txBody>
          <a:bodyPr/>
          <a:lstStyle/>
          <a:p>
            <a:r>
              <a:rPr lang="en-US" dirty="0"/>
              <a:t>We (DPA and I) take the inputs from Steps 3, 4</a:t>
            </a:r>
          </a:p>
          <a:p>
            <a:r>
              <a:rPr lang="en-US" dirty="0"/>
              <a:t>Conduct a workshop to build the design pattern</a:t>
            </a:r>
          </a:p>
        </p:txBody>
      </p:sp>
      <p:pic>
        <p:nvPicPr>
          <p:cNvPr id="9" name="Picture 8">
            <a:extLst>
              <a:ext uri="{FF2B5EF4-FFF2-40B4-BE49-F238E27FC236}">
                <a16:creationId xmlns:a16="http://schemas.microsoft.com/office/drawing/2014/main" id="{538621FF-6FAC-7D7C-B982-33BFB572BC97}"/>
              </a:ext>
            </a:extLst>
          </p:cNvPr>
          <p:cNvPicPr>
            <a:picLocks noChangeAspect="1"/>
          </p:cNvPicPr>
          <p:nvPr/>
        </p:nvPicPr>
        <p:blipFill>
          <a:blip r:embed="rId2"/>
          <a:stretch>
            <a:fillRect/>
          </a:stretch>
        </p:blipFill>
        <p:spPr>
          <a:xfrm>
            <a:off x="6527103" y="0"/>
            <a:ext cx="5664897" cy="6858000"/>
          </a:xfrm>
          <a:prstGeom prst="rect">
            <a:avLst/>
          </a:prstGeom>
        </p:spPr>
      </p:pic>
    </p:spTree>
    <p:extLst>
      <p:ext uri="{BB962C8B-B14F-4D97-AF65-F5344CB8AC3E}">
        <p14:creationId xmlns:p14="http://schemas.microsoft.com/office/powerpoint/2010/main" val="7381079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17EF5-4C00-C4AB-DFB1-07F5AA4DAECE}"/>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9DF5792-17B2-9A45-020C-7BC622D7185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2633" y="1283746"/>
            <a:ext cx="12119367" cy="5546900"/>
          </a:xfrm>
          <a:prstGeom prst="rect">
            <a:avLst/>
          </a:prstGeom>
        </p:spPr>
      </p:pic>
      <p:sp>
        <p:nvSpPr>
          <p:cNvPr id="2" name="Title 1">
            <a:extLst>
              <a:ext uri="{FF2B5EF4-FFF2-40B4-BE49-F238E27FC236}">
                <a16:creationId xmlns:a16="http://schemas.microsoft.com/office/drawing/2014/main" id="{C181D24D-23C7-02E4-1F29-1D1969612630}"/>
              </a:ext>
            </a:extLst>
          </p:cNvPr>
          <p:cNvSpPr>
            <a:spLocks noGrp="1"/>
          </p:cNvSpPr>
          <p:nvPr>
            <p:ph type="title"/>
          </p:nvPr>
        </p:nvSpPr>
        <p:spPr/>
        <p:txBody>
          <a:bodyPr/>
          <a:lstStyle/>
          <a:p>
            <a:r>
              <a:t>Steps 5 Workshop result: Mermaid (v1)</a:t>
            </a:r>
          </a:p>
        </p:txBody>
      </p:sp>
    </p:spTree>
    <p:extLst>
      <p:ext uri="{BB962C8B-B14F-4D97-AF65-F5344CB8AC3E}">
        <p14:creationId xmlns:p14="http://schemas.microsoft.com/office/powerpoint/2010/main" val="42162010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Step 5 revisited: speech act vs. document act</a:t>
            </a:r>
          </a:p>
        </p:txBody>
      </p:sp>
      <p:sp>
        <p:nvSpPr>
          <p:cNvPr id="3" name="Content Placeholder 2"/>
          <p:cNvSpPr>
            <a:spLocks noGrp="1"/>
          </p:cNvSpPr>
          <p:nvPr>
            <p:ph idx="1"/>
          </p:nvPr>
        </p:nvSpPr>
        <p:spPr>
          <a:xfrm>
            <a:off x="548640" y="1325880"/>
            <a:ext cx="5120640" cy="4937760"/>
          </a:xfrm>
        </p:spPr>
        <p:txBody>
          <a:bodyPr/>
          <a:lstStyle/>
          <a:p>
            <a:r>
              <a:rPr sz="1600" b="1">
                <a:solidFill>
                  <a:srgbClr val="C00000"/>
                </a:solidFill>
              </a:rPr>
              <a:t>v1 problem: </a:t>
            </a:r>
            <a:r>
              <a:rPr sz="1600" b="0"/>
              <a:t>one node, "deciding", did two jobs. The BPMN already had two tasks</a:t>
            </a:r>
          </a:p>
          <a:p>
            <a:r>
              <a:rPr sz="1600" b="1">
                <a:solidFill>
                  <a:srgbClr val="C55A11"/>
                </a:solidFill>
              </a:rPr>
              <a:t>Speech act: </a:t>
            </a:r>
            <a:r>
              <a:rPr sz="1600" b="0"/>
              <a:t>cco:Act of Directive Communication realizes the Authority Role and outputs the mandate</a:t>
            </a:r>
          </a:p>
          <a:p>
            <a:r>
              <a:rPr sz="1600" b="1">
                <a:solidFill>
                  <a:srgbClr val="1F4E79"/>
                </a:solidFill>
              </a:rPr>
              <a:t>Document act: </a:t>
            </a:r>
            <a:r>
              <a:rPr sz="1600" b="0"/>
              <a:t>cco:Act of Official Documentation outputs the minutes file, which carries the minutes; the mandate is part of them</a:t>
            </a:r>
          </a:p>
          <a:p>
            <a:r>
              <a:rPr sz="1600" b="1"/>
              <a:t>Identifier: </a:t>
            </a:r>
            <a:r>
              <a:rPr sz="1600" b="0"/>
              <a:t>"M06 v1.1" designates the mandate, and the same ID links minutes, letters and trackers (Document Acts, p. 10)</a:t>
            </a:r>
          </a:p>
          <a:p>
            <a:r>
              <a:rPr sz="1600" b="1"/>
              <a:t>Lint: </a:t>
            </a:r>
            <a:r>
              <a:rPr sz="1600" b="0"/>
              <a:t>PASS, 0 errors, 3 warnings (justified)</a:t>
            </a:r>
          </a:p>
        </p:txBody>
      </p:sp>
      <p:pic>
        <p:nvPicPr>
          <p:cNvPr id="4" name="Picture 3" descr="pattern-v2.png"/>
          <p:cNvPicPr>
            <a:picLocks noChangeAspect="1"/>
          </p:cNvPicPr>
          <p:nvPr/>
        </p:nvPicPr>
        <p:blipFill>
          <a:blip r:embed="rId2"/>
          <a:stretch>
            <a:fillRect/>
          </a:stretch>
        </p:blipFill>
        <p:spPr>
          <a:xfrm>
            <a:off x="6035040" y="1600200"/>
            <a:ext cx="5391243" cy="507492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Identifiers reveal recurrence</a:t>
            </a:r>
          </a:p>
        </p:txBody>
      </p:sp>
      <p:pic>
        <p:nvPicPr>
          <p:cNvPr id="3" name="Picture 2" descr="timeline.png"/>
          <p:cNvPicPr>
            <a:picLocks noChangeAspect="1"/>
          </p:cNvPicPr>
          <p:nvPr/>
        </p:nvPicPr>
        <p:blipFill>
          <a:blip r:embed="rId2"/>
          <a:stretch>
            <a:fillRect/>
          </a:stretch>
        </p:blipFill>
        <p:spPr>
          <a:xfrm>
            <a:off x="457200" y="1371600"/>
            <a:ext cx="11247120" cy="2958058"/>
          </a:xfrm>
          <a:prstGeom prst="rect">
            <a:avLst/>
          </a:prstGeom>
        </p:spPr>
      </p:pic>
      <p:graphicFrame>
        <p:nvGraphicFramePr>
          <p:cNvPr id="4" name="Table 3"/>
          <p:cNvGraphicFramePr>
            <a:graphicFrameLocks noGrp="1"/>
          </p:cNvGraphicFramePr>
          <p:nvPr/>
        </p:nvGraphicFramePr>
        <p:xfrm>
          <a:off x="548640" y="4526280"/>
          <a:ext cx="11064240" cy="1645919"/>
        </p:xfrm>
        <a:graphic>
          <a:graphicData uri="http://schemas.openxmlformats.org/drawingml/2006/table">
            <a:tbl>
              <a:tblPr firstRow="1" bandRow="1">
                <a:tableStyleId>{5940675A-B579-460E-94D1-54222C63F5DA}</a:tableStyleId>
              </a:tblPr>
              <a:tblGrid>
                <a:gridCol w="47548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tblGrid>
              <a:tr h="548639">
                <a:tc>
                  <a:txBody>
                    <a:bodyPr/>
                    <a:lstStyle/>
                    <a:p>
                      <a:r>
                        <a:rPr sz="1200" b="1" dirty="0">
                          <a:solidFill>
                            <a:srgbClr val="FFFFFF"/>
                          </a:solidFill>
                        </a:rPr>
                        <a:t>Document Acts (p. 10)</a:t>
                      </a:r>
                    </a:p>
                  </a:txBody>
                  <a:tcPr marL="73152" marR="73152" marT="36576" marB="36576" anchor="ctr">
                    <a:solidFill>
                      <a:srgbClr val="262626"/>
                    </a:solidFill>
                  </a:tcPr>
                </a:tc>
                <a:tc>
                  <a:txBody>
                    <a:bodyPr/>
                    <a:lstStyle/>
                    <a:p>
                      <a:r>
                        <a:rPr sz="1200" b="1">
                          <a:solidFill>
                            <a:srgbClr val="FFFFFF"/>
                          </a:solidFill>
                        </a:rPr>
                        <a:t>In this pattern</a:t>
                      </a:r>
                    </a:p>
                  </a:txBody>
                  <a:tcPr marL="73152" marR="73152" marT="36576" marB="36576" anchor="ctr">
                    <a:solidFill>
                      <a:srgbClr val="262626"/>
                    </a:solidFill>
                  </a:tcPr>
                </a:tc>
                <a:extLst>
                  <a:ext uri="{0D108BD9-81ED-4DB2-BD59-A6C34878D82A}">
                    <a16:rowId xmlns:a16="http://schemas.microsoft.com/office/drawing/2014/main" val="10000"/>
                  </a:ext>
                </a:extLst>
              </a:tr>
              <a:tr h="548639">
                <a:tc>
                  <a:txBody>
                    <a:bodyPr/>
                    <a:lstStyle/>
                    <a:p>
                      <a:r>
                        <a:rPr sz="1200" b="0">
                          <a:solidFill>
                            <a:srgbClr val="1F1F1F"/>
                          </a:solidFill>
                        </a:rPr>
                        <a:t>Tracking numbers and VINs create "virtual attachment between documents via cross-referencing"</a:t>
                      </a:r>
                    </a:p>
                  </a:txBody>
                  <a:tcPr marL="73152" marR="73152" marT="36576" marB="36576" anchor="ctr">
                    <a:solidFill>
                      <a:srgbClr val="FFFFFF"/>
                    </a:solidFill>
                  </a:tcPr>
                </a:tc>
                <a:tc>
                  <a:txBody>
                    <a:bodyPr/>
                    <a:lstStyle/>
                    <a:p>
                      <a:r>
                        <a:rPr sz="1200" b="0">
                          <a:solidFill>
                            <a:srgbClr val="1F1F1F"/>
                          </a:solidFill>
                        </a:rPr>
                        <a:t>A mandate ID (M06) appears in the minutes, a follow-up letter and a tracker: three documents, one mandate</a:t>
                      </a:r>
                    </a:p>
                  </a:txBody>
                  <a:tcPr marL="73152" marR="73152" marT="36576" marB="36576" anchor="ctr">
                    <a:solidFill>
                      <a:srgbClr val="FFFFFF"/>
                    </a:solidFill>
                  </a:tcPr>
                </a:tc>
                <a:extLst>
                  <a:ext uri="{0D108BD9-81ED-4DB2-BD59-A6C34878D82A}">
                    <a16:rowId xmlns:a16="http://schemas.microsoft.com/office/drawing/2014/main" val="10001"/>
                  </a:ext>
                </a:extLst>
              </a:tr>
              <a:tr h="548641">
                <a:tc>
                  <a:txBody>
                    <a:bodyPr/>
                    <a:lstStyle/>
                    <a:p>
                      <a:r>
                        <a:rPr sz="1200" b="0">
                          <a:solidFill>
                            <a:srgbClr val="1F1F1F"/>
                          </a:solidFill>
                        </a:rPr>
                        <a:t>The document's identifiers support knowledge by comparison</a:t>
                      </a:r>
                    </a:p>
                  </a:txBody>
                  <a:tcPr marL="73152" marR="73152" marT="36576" marB="36576" anchor="ctr">
                    <a:solidFill>
                      <a:srgbClr val="F2F2F2"/>
                    </a:solidFill>
                  </a:tcPr>
                </a:tc>
                <a:tc>
                  <a:txBody>
                    <a:bodyPr/>
                    <a:lstStyle/>
                    <a:p>
                      <a:r>
                        <a:rPr sz="1200" b="0" dirty="0">
                          <a:solidFill>
                            <a:srgbClr val="1F1F1F"/>
                          </a:solidFill>
                        </a:rPr>
                        <a:t>Comparing M06 v1.0 with v1.1 shows the chair raised it twice, with more asked the second time. Each version is a distinct mandate, linked by precedes</a:t>
                      </a:r>
                    </a:p>
                  </a:txBody>
                  <a:tcPr marL="73152" marR="73152" marT="36576" marB="36576" anchor="ctr">
                    <a:solidFill>
                      <a:srgbClr val="F2F2F2"/>
                    </a:solidFill>
                  </a:tcPr>
                </a:tc>
                <a:extLst>
                  <a:ext uri="{0D108BD9-81ED-4DB2-BD59-A6C34878D82A}">
                    <a16:rowId xmlns:a16="http://schemas.microsoft.com/office/drawing/2014/main" val="10002"/>
                  </a:ext>
                </a:extLst>
              </a:tr>
            </a:tbl>
          </a:graphicData>
        </a:graphic>
      </p:graphicFrame>
      <p:sp>
        <p:nvSpPr>
          <p:cNvPr id="5" name="TextBox 4"/>
          <p:cNvSpPr txBox="1"/>
          <p:nvPr/>
        </p:nvSpPr>
        <p:spPr>
          <a:xfrm>
            <a:off x="548640" y="6355080"/>
            <a:ext cx="11064240" cy="246221"/>
          </a:xfrm>
          <a:prstGeom prst="rect">
            <a:avLst/>
          </a:prstGeom>
          <a:noFill/>
        </p:spPr>
        <p:txBody>
          <a:bodyPr wrap="square">
            <a:spAutoFit/>
          </a:bodyPr>
          <a:lstStyle/>
          <a:p>
            <a:r>
              <a:rPr sz="1000" i="1" dirty="0">
                <a:solidFill>
                  <a:srgbClr val="595959"/>
                </a:solidFill>
              </a:rPr>
              <a:t>Synthetic data. The real </a:t>
            </a:r>
            <a:r>
              <a:rPr lang="en-US" sz="1000" i="1" dirty="0">
                <a:solidFill>
                  <a:srgbClr val="595959"/>
                </a:solidFill>
              </a:rPr>
              <a:t>program</a:t>
            </a:r>
            <a:r>
              <a:rPr sz="1000" i="1" dirty="0">
                <a:solidFill>
                  <a:srgbClr val="595959"/>
                </a:solidFill>
              </a:rPr>
              <a:t> file is internal and is not published.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File Engineering aligned to IAO</a:t>
            </a:r>
          </a:p>
        </p:txBody>
      </p:sp>
      <p:sp>
        <p:nvSpPr>
          <p:cNvPr id="3" name="TextBox 2"/>
          <p:cNvSpPr txBox="1"/>
          <p:nvPr/>
        </p:nvSpPr>
        <p:spPr>
          <a:xfrm>
            <a:off x="548640" y="1188720"/>
            <a:ext cx="11064240" cy="457200"/>
          </a:xfrm>
          <a:prstGeom prst="rect">
            <a:avLst/>
          </a:prstGeom>
          <a:noFill/>
        </p:spPr>
        <p:txBody>
          <a:bodyPr wrap="square">
            <a:spAutoFit/>
          </a:bodyPr>
          <a:lstStyle/>
          <a:p>
            <a:r>
              <a:rPr sz="1400" i="0">
                <a:solidFill>
                  <a:srgbClr val="1F1F1F"/>
                </a:solidFill>
              </a:rPr>
              <a:t>CCO is imported; IAO is aligned (skos:closeMatch), not imported, so there is never a second "document" class. Following IAO-Intel, each file type is populated downward from IAO.</a:t>
            </a:r>
          </a:p>
        </p:txBody>
      </p:sp>
      <p:graphicFrame>
        <p:nvGraphicFramePr>
          <p:cNvPr id="4" name="Table 3"/>
          <p:cNvGraphicFramePr>
            <a:graphicFrameLocks noGrp="1"/>
          </p:cNvGraphicFramePr>
          <p:nvPr/>
        </p:nvGraphicFramePr>
        <p:xfrm>
          <a:off x="548640" y="1828800"/>
          <a:ext cx="11064240" cy="3867911"/>
        </p:xfrm>
        <a:graphic>
          <a:graphicData uri="http://schemas.openxmlformats.org/drawingml/2006/table">
            <a:tbl>
              <a:tblPr firstRow="1" bandRow="1">
                <a:tableStyleId>{5940675A-B579-460E-94D1-54222C63F5DA}</a:tableStyleId>
              </a:tblPr>
              <a:tblGrid>
                <a:gridCol w="26517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429767">
                <a:tc>
                  <a:txBody>
                    <a:bodyPr/>
                    <a:lstStyle/>
                    <a:p>
                      <a:r>
                        <a:rPr sz="1300" b="1">
                          <a:solidFill>
                            <a:srgbClr val="FFFFFF"/>
                          </a:solidFill>
                        </a:rPr>
                        <a:t>File element</a:t>
                      </a:r>
                    </a:p>
                  </a:txBody>
                  <a:tcPr marL="73152" marR="73152" marT="36576" marB="36576" anchor="ctr">
                    <a:solidFill>
                      <a:srgbClr val="262626"/>
                    </a:solidFill>
                  </a:tcPr>
                </a:tc>
                <a:tc>
                  <a:txBody>
                    <a:bodyPr/>
                    <a:lstStyle/>
                    <a:p>
                      <a:r>
                        <a:rPr sz="1300" b="1">
                          <a:solidFill>
                            <a:srgbClr val="FFFFFF"/>
                          </a:solidFill>
                        </a:rPr>
                        <a:t>Source label</a:t>
                      </a:r>
                    </a:p>
                  </a:txBody>
                  <a:tcPr marL="73152" marR="73152" marT="36576" marB="36576" anchor="ctr">
                    <a:solidFill>
                      <a:srgbClr val="262626"/>
                    </a:solidFill>
                  </a:tcPr>
                </a:tc>
                <a:tc>
                  <a:txBody>
                    <a:bodyPr/>
                    <a:lstStyle/>
                    <a:p>
                      <a:r>
                        <a:rPr sz="1300" b="1">
                          <a:solidFill>
                            <a:srgbClr val="FFFFFF"/>
                          </a:solidFill>
                        </a:rPr>
                        <a:t>IAO class (aligned)</a:t>
                      </a:r>
                    </a:p>
                  </a:txBody>
                  <a:tcPr marL="73152" marR="73152" marT="36576" marB="36576" anchor="ctr">
                    <a:solidFill>
                      <a:srgbClr val="262626"/>
                    </a:solidFill>
                  </a:tcPr>
                </a:tc>
                <a:tc>
                  <a:txBody>
                    <a:bodyPr/>
                    <a:lstStyle/>
                    <a:p>
                      <a:r>
                        <a:rPr sz="1300" b="1">
                          <a:solidFill>
                            <a:srgbClr val="FFFFFF"/>
                          </a:solidFill>
                        </a:rPr>
                        <a:t>CCO class (used)</a:t>
                      </a:r>
                    </a:p>
                  </a:txBody>
                  <a:tcPr marL="73152" marR="73152" marT="36576" marB="36576" anchor="ctr">
                    <a:solidFill>
                      <a:srgbClr val="262626"/>
                    </a:solidFill>
                  </a:tcPr>
                </a:tc>
                <a:extLst>
                  <a:ext uri="{0D108BD9-81ED-4DB2-BD59-A6C34878D82A}">
                    <a16:rowId xmlns:a16="http://schemas.microsoft.com/office/drawing/2014/main" val="10000"/>
                  </a:ext>
                </a:extLst>
              </a:tr>
              <a:tr h="429767">
                <a:tc>
                  <a:txBody>
                    <a:bodyPr/>
                    <a:lstStyle/>
                    <a:p>
                      <a:r>
                        <a:rPr sz="1300" b="1">
                          <a:solidFill>
                            <a:srgbClr val="1F1F1F"/>
                          </a:solidFill>
                        </a:rPr>
                        <a:t>Priority file (dossier)</a:t>
                      </a:r>
                    </a:p>
                  </a:txBody>
                  <a:tcPr marL="73152" marR="73152" marT="36576" marB="36576" anchor="ctr">
                    <a:solidFill>
                      <a:srgbClr val="FFFFFF"/>
                    </a:solidFill>
                  </a:tcPr>
                </a:tc>
                <a:tc>
                  <a:txBody>
                    <a:bodyPr/>
                    <a:lstStyle/>
                    <a:p>
                      <a:r>
                        <a:rPr sz="1300" b="0">
                          <a:solidFill>
                            <a:srgbClr val="1F1F1F"/>
                          </a:solidFill>
                        </a:rPr>
                        <a:t>ملف</a:t>
                      </a:r>
                    </a:p>
                  </a:txBody>
                  <a:tcPr marL="73152" marR="73152" marT="36576" marB="36576" anchor="ctr">
                    <a:solidFill>
                      <a:srgbClr val="FFFFFF"/>
                    </a:solidFill>
                  </a:tcPr>
                </a:tc>
                <a:tc>
                  <a:txBody>
                    <a:bodyPr/>
                    <a:lstStyle/>
                    <a:p>
                      <a:r>
                        <a:rPr sz="1300" b="0">
                          <a:solidFill>
                            <a:srgbClr val="1F1F1F"/>
                          </a:solidFill>
                        </a:rPr>
                        <a:t>document  IAO_0000310</a:t>
                      </a:r>
                    </a:p>
                  </a:txBody>
                  <a:tcPr marL="73152" marR="73152" marT="36576" marB="36576" anchor="ctr">
                    <a:solidFill>
                      <a:srgbClr val="FFFFFF"/>
                    </a:solidFill>
                  </a:tcPr>
                </a:tc>
                <a:tc>
                  <a:txBody>
                    <a:bodyPr/>
                    <a:lstStyle/>
                    <a:p>
                      <a:r>
                        <a:rPr sz="1300" b="0">
                          <a:solidFill>
                            <a:srgbClr val="1F1F1F"/>
                          </a:solidFill>
                        </a:rPr>
                        <a:t>Information Content Entity</a:t>
                      </a:r>
                    </a:p>
                  </a:txBody>
                  <a:tcPr marL="73152" marR="73152" marT="36576" marB="36576" anchor="ctr">
                    <a:solidFill>
                      <a:srgbClr val="FFFFFF"/>
                    </a:solidFill>
                  </a:tcPr>
                </a:tc>
                <a:extLst>
                  <a:ext uri="{0D108BD9-81ED-4DB2-BD59-A6C34878D82A}">
                    <a16:rowId xmlns:a16="http://schemas.microsoft.com/office/drawing/2014/main" val="10001"/>
                  </a:ext>
                </a:extLst>
              </a:tr>
              <a:tr h="429767">
                <a:tc>
                  <a:txBody>
                    <a:bodyPr/>
                    <a:lstStyle/>
                    <a:p>
                      <a:r>
                        <a:rPr sz="1300" b="1">
                          <a:solidFill>
                            <a:srgbClr val="1F1F1F"/>
                          </a:solidFill>
                        </a:rPr>
                        <a:t>Meeting presentation</a:t>
                      </a:r>
                    </a:p>
                  </a:txBody>
                  <a:tcPr marL="73152" marR="73152" marT="36576" marB="36576" anchor="ctr">
                    <a:solidFill>
                      <a:srgbClr val="F2F2F2"/>
                    </a:solidFill>
                  </a:tcPr>
                </a:tc>
                <a:tc>
                  <a:txBody>
                    <a:bodyPr/>
                    <a:lstStyle/>
                    <a:p>
                      <a:r>
                        <a:rPr sz="1300" b="0">
                          <a:solidFill>
                            <a:srgbClr val="1F1F1F"/>
                          </a:solidFill>
                        </a:rPr>
                        <a:t>عرض</a:t>
                      </a:r>
                    </a:p>
                  </a:txBody>
                  <a:tcPr marL="73152" marR="73152" marT="36576" marB="36576" anchor="ctr">
                    <a:solidFill>
                      <a:srgbClr val="F2F2F2"/>
                    </a:solidFill>
                  </a:tcPr>
                </a:tc>
                <a:tc>
                  <a:txBody>
                    <a:bodyPr/>
                    <a:lstStyle/>
                    <a:p>
                      <a:r>
                        <a:rPr sz="1300" b="0">
                          <a:solidFill>
                            <a:srgbClr val="1F1F1F"/>
                          </a:solidFill>
                        </a:rPr>
                        <a:t>document  IAO_0000310</a:t>
                      </a:r>
                    </a:p>
                  </a:txBody>
                  <a:tcPr marL="73152" marR="73152" marT="36576" marB="36576" anchor="ctr">
                    <a:solidFill>
                      <a:srgbClr val="F2F2F2"/>
                    </a:solidFill>
                  </a:tcPr>
                </a:tc>
                <a:tc>
                  <a:txBody>
                    <a:bodyPr/>
                    <a:lstStyle/>
                    <a:p>
                      <a:r>
                        <a:rPr sz="1300" b="0">
                          <a:solidFill>
                            <a:srgbClr val="1F1F1F"/>
                          </a:solidFill>
                        </a:rPr>
                        <a:t>Document Content Entity</a:t>
                      </a:r>
                    </a:p>
                  </a:txBody>
                  <a:tcPr marL="73152" marR="73152" marT="36576" marB="36576" anchor="ctr">
                    <a:solidFill>
                      <a:srgbClr val="F2F2F2"/>
                    </a:solidFill>
                  </a:tcPr>
                </a:tc>
                <a:extLst>
                  <a:ext uri="{0D108BD9-81ED-4DB2-BD59-A6C34878D82A}">
                    <a16:rowId xmlns:a16="http://schemas.microsoft.com/office/drawing/2014/main" val="10002"/>
                  </a:ext>
                </a:extLst>
              </a:tr>
              <a:tr h="429767">
                <a:tc>
                  <a:txBody>
                    <a:bodyPr/>
                    <a:lstStyle/>
                    <a:p>
                      <a:r>
                        <a:rPr sz="1300" b="1">
                          <a:solidFill>
                            <a:srgbClr val="1F1F1F"/>
                          </a:solidFill>
                        </a:rPr>
                        <a:t>Minutes</a:t>
                      </a:r>
                    </a:p>
                  </a:txBody>
                  <a:tcPr marL="73152" marR="73152" marT="36576" marB="36576" anchor="ctr">
                    <a:solidFill>
                      <a:srgbClr val="FFFFFF"/>
                    </a:solidFill>
                  </a:tcPr>
                </a:tc>
                <a:tc>
                  <a:txBody>
                    <a:bodyPr/>
                    <a:lstStyle/>
                    <a:p>
                      <a:r>
                        <a:rPr sz="1300" b="0">
                          <a:solidFill>
                            <a:srgbClr val="1F1F1F"/>
                          </a:solidFill>
                        </a:rPr>
                        <a:t>محضر</a:t>
                      </a:r>
                    </a:p>
                  </a:txBody>
                  <a:tcPr marL="73152" marR="73152" marT="36576" marB="36576" anchor="ctr">
                    <a:solidFill>
                      <a:srgbClr val="FFFFFF"/>
                    </a:solidFill>
                  </a:tcPr>
                </a:tc>
                <a:tc>
                  <a:txBody>
                    <a:bodyPr/>
                    <a:lstStyle/>
                    <a:p>
                      <a:r>
                        <a:rPr sz="1300" b="0">
                          <a:solidFill>
                            <a:srgbClr val="1F1F1F"/>
                          </a:solidFill>
                        </a:rPr>
                        <a:t>report  IAO_0000088  (exact)</a:t>
                      </a:r>
                    </a:p>
                  </a:txBody>
                  <a:tcPr marL="73152" marR="73152" marT="36576" marB="36576" anchor="ctr">
                    <a:solidFill>
                      <a:srgbClr val="FFFFFF"/>
                    </a:solidFill>
                  </a:tcPr>
                </a:tc>
                <a:tc>
                  <a:txBody>
                    <a:bodyPr/>
                    <a:lstStyle/>
                    <a:p>
                      <a:r>
                        <a:rPr sz="1300" b="0">
                          <a:solidFill>
                            <a:srgbClr val="1F1F1F"/>
                          </a:solidFill>
                        </a:rPr>
                        <a:t>Report</a:t>
                      </a:r>
                    </a:p>
                  </a:txBody>
                  <a:tcPr marL="73152" marR="73152" marT="36576" marB="36576" anchor="ctr">
                    <a:solidFill>
                      <a:srgbClr val="FFFFFF"/>
                    </a:solidFill>
                  </a:tcPr>
                </a:tc>
                <a:extLst>
                  <a:ext uri="{0D108BD9-81ED-4DB2-BD59-A6C34878D82A}">
                    <a16:rowId xmlns:a16="http://schemas.microsoft.com/office/drawing/2014/main" val="10003"/>
                  </a:ext>
                </a:extLst>
              </a:tr>
              <a:tr h="429767">
                <a:tc>
                  <a:txBody>
                    <a:bodyPr/>
                    <a:lstStyle/>
                    <a:p>
                      <a:r>
                        <a:rPr sz="1300" b="1">
                          <a:solidFill>
                            <a:srgbClr val="1F1F1F"/>
                          </a:solidFill>
                        </a:rPr>
                        <a:t>Official letter</a:t>
                      </a:r>
                    </a:p>
                  </a:txBody>
                  <a:tcPr marL="73152" marR="73152" marT="36576" marB="36576" anchor="ctr">
                    <a:solidFill>
                      <a:srgbClr val="F2F2F2"/>
                    </a:solidFill>
                  </a:tcPr>
                </a:tc>
                <a:tc>
                  <a:txBody>
                    <a:bodyPr/>
                    <a:lstStyle/>
                    <a:p>
                      <a:r>
                        <a:rPr sz="1300" b="0">
                          <a:solidFill>
                            <a:srgbClr val="1F1F1F"/>
                          </a:solidFill>
                        </a:rPr>
                        <a:t>خطاب</a:t>
                      </a:r>
                    </a:p>
                  </a:txBody>
                  <a:tcPr marL="73152" marR="73152" marT="36576" marB="36576" anchor="ctr">
                    <a:solidFill>
                      <a:srgbClr val="F2F2F2"/>
                    </a:solidFill>
                  </a:tcPr>
                </a:tc>
                <a:tc>
                  <a:txBody>
                    <a:bodyPr/>
                    <a:lstStyle/>
                    <a:p>
                      <a:r>
                        <a:rPr sz="1300" b="0">
                          <a:solidFill>
                            <a:srgbClr val="1F1F1F"/>
                          </a:solidFill>
                        </a:rPr>
                        <a:t>document  IAO_0000310</a:t>
                      </a:r>
                    </a:p>
                  </a:txBody>
                  <a:tcPr marL="73152" marR="73152" marT="36576" marB="36576" anchor="ctr">
                    <a:solidFill>
                      <a:srgbClr val="F2F2F2"/>
                    </a:solidFill>
                  </a:tcPr>
                </a:tc>
                <a:tc>
                  <a:txBody>
                    <a:bodyPr/>
                    <a:lstStyle/>
                    <a:p>
                      <a:r>
                        <a:rPr sz="1300" b="0">
                          <a:solidFill>
                            <a:srgbClr val="1F1F1F"/>
                          </a:solidFill>
                        </a:rPr>
                        <a:t>Document Content Entity</a:t>
                      </a:r>
                    </a:p>
                  </a:txBody>
                  <a:tcPr marL="73152" marR="73152" marT="36576" marB="36576" anchor="ctr">
                    <a:solidFill>
                      <a:srgbClr val="F2F2F2"/>
                    </a:solidFill>
                  </a:tcPr>
                </a:tc>
                <a:extLst>
                  <a:ext uri="{0D108BD9-81ED-4DB2-BD59-A6C34878D82A}">
                    <a16:rowId xmlns:a16="http://schemas.microsoft.com/office/drawing/2014/main" val="10004"/>
                  </a:ext>
                </a:extLst>
              </a:tr>
              <a:tr h="429767">
                <a:tc>
                  <a:txBody>
                    <a:bodyPr/>
                    <a:lstStyle/>
                    <a:p>
                      <a:r>
                        <a:rPr sz="1300" b="1">
                          <a:solidFill>
                            <a:srgbClr val="1F1F1F"/>
                          </a:solidFill>
                        </a:rPr>
                        <a:t>Directive / mandate</a:t>
                      </a:r>
                    </a:p>
                  </a:txBody>
                  <a:tcPr marL="73152" marR="73152" marT="36576" marB="36576" anchor="ctr">
                    <a:solidFill>
                      <a:srgbClr val="FFFFFF"/>
                    </a:solidFill>
                  </a:tcPr>
                </a:tc>
                <a:tc>
                  <a:txBody>
                    <a:bodyPr/>
                    <a:lstStyle/>
                    <a:p>
                      <a:r>
                        <a:rPr sz="1300" b="0">
                          <a:solidFill>
                            <a:srgbClr val="1F1F1F"/>
                          </a:solidFill>
                        </a:rPr>
                        <a:t>توجيه</a:t>
                      </a:r>
                    </a:p>
                  </a:txBody>
                  <a:tcPr marL="73152" marR="73152" marT="36576" marB="36576" anchor="ctr">
                    <a:solidFill>
                      <a:srgbClr val="FFFFFF"/>
                    </a:solidFill>
                  </a:tcPr>
                </a:tc>
                <a:tc>
                  <a:txBody>
                    <a:bodyPr/>
                    <a:lstStyle/>
                    <a:p>
                      <a:r>
                        <a:rPr sz="1300" b="0">
                          <a:solidFill>
                            <a:srgbClr val="1F1F1F"/>
                          </a:solidFill>
                        </a:rPr>
                        <a:t>directive information entity  IAO_0000033</a:t>
                      </a:r>
                    </a:p>
                  </a:txBody>
                  <a:tcPr marL="73152" marR="73152" marT="36576" marB="36576" anchor="ctr">
                    <a:solidFill>
                      <a:srgbClr val="FFFFFF"/>
                    </a:solidFill>
                  </a:tcPr>
                </a:tc>
                <a:tc>
                  <a:txBody>
                    <a:bodyPr/>
                    <a:lstStyle/>
                    <a:p>
                      <a:r>
                        <a:rPr sz="1300" b="0">
                          <a:solidFill>
                            <a:srgbClr val="1F1F1F"/>
                          </a:solidFill>
                        </a:rPr>
                        <a:t>Process Regulation</a:t>
                      </a:r>
                    </a:p>
                  </a:txBody>
                  <a:tcPr marL="73152" marR="73152" marT="36576" marB="36576" anchor="ctr">
                    <a:solidFill>
                      <a:srgbClr val="FFFFFF"/>
                    </a:solidFill>
                  </a:tcPr>
                </a:tc>
                <a:extLst>
                  <a:ext uri="{0D108BD9-81ED-4DB2-BD59-A6C34878D82A}">
                    <a16:rowId xmlns:a16="http://schemas.microsoft.com/office/drawing/2014/main" val="10005"/>
                  </a:ext>
                </a:extLst>
              </a:tr>
              <a:tr h="429767">
                <a:tc>
                  <a:txBody>
                    <a:bodyPr/>
                    <a:lstStyle/>
                    <a:p>
                      <a:r>
                        <a:rPr sz="1300" b="1">
                          <a:solidFill>
                            <a:srgbClr val="1F1F1F"/>
                          </a:solidFill>
                        </a:rPr>
                        <a:t>Recording the decision</a:t>
                      </a:r>
                    </a:p>
                  </a:txBody>
                  <a:tcPr marL="73152" marR="73152" marT="36576" marB="36576" anchor="ctr">
                    <a:solidFill>
                      <a:srgbClr val="F2F2F2"/>
                    </a:solidFill>
                  </a:tcPr>
                </a:tc>
                <a:tc>
                  <a:txBody>
                    <a:bodyPr/>
                    <a:lstStyle/>
                    <a:p>
                      <a:r>
                        <a:rPr sz="1300" b="0">
                          <a:solidFill>
                            <a:srgbClr val="1F1F1F"/>
                          </a:solidFill>
                        </a:rPr>
                        <a:t>توثيق</a:t>
                      </a:r>
                    </a:p>
                  </a:txBody>
                  <a:tcPr marL="73152" marR="73152" marT="36576" marB="36576" anchor="ctr">
                    <a:solidFill>
                      <a:srgbClr val="F2F2F2"/>
                    </a:solidFill>
                  </a:tcPr>
                </a:tc>
                <a:tc>
                  <a:txBody>
                    <a:bodyPr/>
                    <a:lstStyle/>
                    <a:p>
                      <a:r>
                        <a:rPr sz="1300" b="0">
                          <a:solidFill>
                            <a:srgbClr val="1F1F1F"/>
                          </a:solidFill>
                        </a:rPr>
                        <a:t>documenting  IAO_0000572</a:t>
                      </a:r>
                    </a:p>
                  </a:txBody>
                  <a:tcPr marL="73152" marR="73152" marT="36576" marB="36576" anchor="ctr">
                    <a:solidFill>
                      <a:srgbClr val="F2F2F2"/>
                    </a:solidFill>
                  </a:tcPr>
                </a:tc>
                <a:tc>
                  <a:txBody>
                    <a:bodyPr/>
                    <a:lstStyle/>
                    <a:p>
                      <a:r>
                        <a:rPr sz="1300" b="0">
                          <a:solidFill>
                            <a:srgbClr val="1F1F1F"/>
                          </a:solidFill>
                        </a:rPr>
                        <a:t>Act of Official Documentation</a:t>
                      </a:r>
                    </a:p>
                  </a:txBody>
                  <a:tcPr marL="73152" marR="73152" marT="36576" marB="36576" anchor="ctr">
                    <a:solidFill>
                      <a:srgbClr val="F2F2F2"/>
                    </a:solidFill>
                  </a:tcPr>
                </a:tc>
                <a:extLst>
                  <a:ext uri="{0D108BD9-81ED-4DB2-BD59-A6C34878D82A}">
                    <a16:rowId xmlns:a16="http://schemas.microsoft.com/office/drawing/2014/main" val="10006"/>
                  </a:ext>
                </a:extLst>
              </a:tr>
              <a:tr h="429767">
                <a:tc>
                  <a:txBody>
                    <a:bodyPr/>
                    <a:lstStyle/>
                    <a:p>
                      <a:r>
                        <a:rPr sz="1300" b="1">
                          <a:solidFill>
                            <a:srgbClr val="1F1F1F"/>
                          </a:solidFill>
                        </a:rPr>
                        <a:t>Mandate ID + version</a:t>
                      </a:r>
                    </a:p>
                  </a:txBody>
                  <a:tcPr marL="73152" marR="73152" marT="36576" marB="36576" anchor="ctr">
                    <a:solidFill>
                      <a:srgbClr val="FFFFFF"/>
                    </a:solidFill>
                  </a:tcPr>
                </a:tc>
                <a:tc>
                  <a:txBody>
                    <a:bodyPr/>
                    <a:lstStyle/>
                    <a:p>
                      <a:r>
                        <a:rPr sz="1300" b="0">
                          <a:solidFill>
                            <a:srgbClr val="1F1F1F"/>
                          </a:solidFill>
                        </a:rPr>
                        <a:t>M06 v1.1</a:t>
                      </a:r>
                    </a:p>
                  </a:txBody>
                  <a:tcPr marL="73152" marR="73152" marT="36576" marB="36576" anchor="ctr">
                    <a:solidFill>
                      <a:srgbClr val="FFFFFF"/>
                    </a:solidFill>
                  </a:tcPr>
                </a:tc>
                <a:tc>
                  <a:txBody>
                    <a:bodyPr/>
                    <a:lstStyle/>
                    <a:p>
                      <a:r>
                        <a:rPr sz="1300" b="0">
                          <a:solidFill>
                            <a:srgbClr val="1F1F1F"/>
                          </a:solidFill>
                        </a:rPr>
                        <a:t>identifier  IAO_0020000</a:t>
                      </a:r>
                    </a:p>
                  </a:txBody>
                  <a:tcPr marL="73152" marR="73152" marT="36576" marB="36576" anchor="ctr">
                    <a:solidFill>
                      <a:srgbClr val="FFFFFF"/>
                    </a:solidFill>
                  </a:tcPr>
                </a:tc>
                <a:tc>
                  <a:txBody>
                    <a:bodyPr/>
                    <a:lstStyle/>
                    <a:p>
                      <a:r>
                        <a:rPr sz="1300" b="0">
                          <a:solidFill>
                            <a:srgbClr val="1F1F1F"/>
                          </a:solidFill>
                        </a:rPr>
                        <a:t>Non-Name Identifier</a:t>
                      </a:r>
                    </a:p>
                  </a:txBody>
                  <a:tcPr marL="73152" marR="73152" marT="36576" marB="36576" anchor="ctr">
                    <a:solidFill>
                      <a:srgbClr val="FFFFFF"/>
                    </a:solidFill>
                  </a:tcPr>
                </a:tc>
                <a:extLst>
                  <a:ext uri="{0D108BD9-81ED-4DB2-BD59-A6C34878D82A}">
                    <a16:rowId xmlns:a16="http://schemas.microsoft.com/office/drawing/2014/main" val="10007"/>
                  </a:ext>
                </a:extLst>
              </a:tr>
              <a:tr h="429775">
                <a:tc>
                  <a:txBody>
                    <a:bodyPr/>
                    <a:lstStyle/>
                    <a:p>
                      <a:r>
                        <a:rPr sz="1300" b="1">
                          <a:solidFill>
                            <a:srgbClr val="1F1F1F"/>
                          </a:solidFill>
                        </a:rPr>
                        <a:t>Executive priority</a:t>
                      </a:r>
                    </a:p>
                  </a:txBody>
                  <a:tcPr marL="73152" marR="73152" marT="36576" marB="36576" anchor="ctr">
                    <a:solidFill>
                      <a:srgbClr val="F2F2F2"/>
                    </a:solidFill>
                  </a:tcPr>
                </a:tc>
                <a:tc>
                  <a:txBody>
                    <a:bodyPr/>
                    <a:lstStyle/>
                    <a:p>
                      <a:r>
                        <a:rPr sz="1300" b="0">
                          <a:solidFill>
                            <a:srgbClr val="1F1F1F"/>
                          </a:solidFill>
                        </a:rPr>
                        <a:t>أولوية</a:t>
                      </a:r>
                    </a:p>
                  </a:txBody>
                  <a:tcPr marL="73152" marR="73152" marT="36576" marB="36576" anchor="ctr">
                    <a:solidFill>
                      <a:srgbClr val="F2F2F2"/>
                    </a:solidFill>
                  </a:tcPr>
                </a:tc>
                <a:tc>
                  <a:txBody>
                    <a:bodyPr/>
                    <a:lstStyle/>
                    <a:p>
                      <a:r>
                        <a:rPr sz="1300" b="0">
                          <a:solidFill>
                            <a:srgbClr val="1F1F1F"/>
                          </a:solidFill>
                        </a:rPr>
                        <a:t>objective specification  IAO_0000005</a:t>
                      </a:r>
                    </a:p>
                  </a:txBody>
                  <a:tcPr marL="73152" marR="73152" marT="36576" marB="36576" anchor="ctr">
                    <a:solidFill>
                      <a:srgbClr val="F2F2F2"/>
                    </a:solidFill>
                  </a:tcPr>
                </a:tc>
                <a:tc>
                  <a:txBody>
                    <a:bodyPr/>
                    <a:lstStyle/>
                    <a:p>
                      <a:r>
                        <a:rPr sz="1300" b="0">
                          <a:solidFill>
                            <a:srgbClr val="1F1F1F"/>
                          </a:solidFill>
                        </a:rPr>
                        <a:t>Objective</a:t>
                      </a:r>
                    </a:p>
                  </a:txBody>
                  <a:tcPr marL="73152" marR="73152" marT="36576" marB="36576" anchor="ctr">
                    <a:solidFill>
                      <a:srgbClr val="F2F2F2"/>
                    </a:solidFill>
                  </a:tcPr>
                </a:tc>
                <a:extLst>
                  <a:ext uri="{0D108BD9-81ED-4DB2-BD59-A6C34878D82A}">
                    <a16:rowId xmlns:a16="http://schemas.microsoft.com/office/drawing/2014/main" val="10008"/>
                  </a:ext>
                </a:extLst>
              </a:tr>
            </a:tbl>
          </a:graphicData>
        </a:graphic>
      </p:graphicFrame>
      <p:sp>
        <p:nvSpPr>
          <p:cNvPr id="5" name="TextBox 4"/>
          <p:cNvSpPr txBox="1"/>
          <p:nvPr/>
        </p:nvSpPr>
        <p:spPr>
          <a:xfrm>
            <a:off x="548640" y="5806440"/>
            <a:ext cx="11064240" cy="731520"/>
          </a:xfrm>
          <a:prstGeom prst="rect">
            <a:avLst/>
          </a:prstGeom>
          <a:noFill/>
        </p:spPr>
        <p:txBody>
          <a:bodyPr wrap="square">
            <a:spAutoFit/>
          </a:bodyPr>
          <a:lstStyle/>
          <a:p>
            <a:r>
              <a:rPr sz="1100" i="1">
                <a:solidFill>
                  <a:srgbClr val="595959"/>
                </a:solidFill>
              </a:rPr>
              <a:t>People stay in CCO (IAO covers information only). IAO's version number is defined for manufactured products, so versions are part of the identifier instead. Precedent: IAO-Intel sets Intelligence Report under IAO Report (Smith et al., Table 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Course material applied in this revision</a:t>
            </a:r>
          </a:p>
        </p:txBody>
      </p:sp>
      <p:sp>
        <p:nvSpPr>
          <p:cNvPr id="3" name="Content Placeholder 2"/>
          <p:cNvSpPr>
            <a:spLocks noGrp="1"/>
          </p:cNvSpPr>
          <p:nvPr>
            <p:ph idx="1"/>
          </p:nvPr>
        </p:nvSpPr>
        <p:spPr/>
        <p:txBody>
          <a:bodyPr/>
          <a:lstStyle/>
          <a:p>
            <a:r>
              <a:rPr sz="1700" b="1"/>
              <a:t>Beverley, Intelligence Analysis: Military Intelligence Part 1</a:t>
            </a:r>
            <a:r>
              <a:rPr sz="1700" b="0"/>
              <a:t>: definitions as &lt;T, E&gt;, two-way counterexample tests, negative language, word-to-world fit → Step 1</a:t>
            </a:r>
          </a:p>
          <a:p>
            <a:r>
              <a:rPr sz="1700" b="1"/>
              <a:t>Smith, Document Acts</a:t>
            </a:r>
            <a:r>
              <a:rPr sz="1700" b="0"/>
              <a:t> (week 3): "to record" (p. 6); felicity conditions and documents as enduring deontic power (pp. 9–10); identifiers and knowledge by comparison (p. 10) → Steps 2 and 5</a:t>
            </a:r>
          </a:p>
          <a:p>
            <a:r>
              <a:rPr sz="1700" b="1"/>
              <a:t>Smith et al., IAO-Intel</a:t>
            </a:r>
            <a:r>
              <a:rPr sz="1700" b="0"/>
              <a:t> (week 3): downward population from document typologies; incremental coverage → File Engineering alignment</a:t>
            </a:r>
          </a:p>
          <a:p>
            <a:r>
              <a:rPr sz="1700" b="1"/>
              <a:t>CCO v2.2 and IAO</a:t>
            </a:r>
            <a:r>
              <a:rPr sz="1700" b="0"/>
              <a:t>: every term checked against the source files, with IRIs in the repository write-up</a:t>
            </a:r>
          </a:p>
          <a:p>
            <a:r>
              <a:rPr sz="1700" b="1">
                <a:solidFill>
                  <a:srgbClr val="C00000"/>
                </a:solidFill>
              </a:rPr>
              <a:t>Next: </a:t>
            </a:r>
            <a:r>
              <a:rPr sz="1700" b="0"/>
              <a:t>implement the pattern in OWL (.ttl), test it with the reasoner and the competency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1189</TotalTime>
  <Words>1404</Words>
  <Application>Microsoft Office PowerPoint</Application>
  <PresentationFormat>Widescreen</PresentationFormat>
  <Paragraphs>148</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Design Pattern Final Project</vt:lpstr>
      <vt:lpstr>Proposed Final Project Topic</vt:lpstr>
      <vt:lpstr>Why Meetings?</vt:lpstr>
      <vt:lpstr>Design process method</vt:lpstr>
      <vt:lpstr>Step 1: My own definition, tested</vt:lpstr>
      <vt:lpstr>Step 1 revised: v2 definitions</vt:lpstr>
      <vt:lpstr>Step 2: Build BPMN map (two acts, not one)</vt:lpstr>
      <vt:lpstr>Step 3: Apply rules of Thumb </vt:lpstr>
      <vt:lpstr>Step 4: Lookup BFO/CCO lenses on to build Design pattern </vt:lpstr>
      <vt:lpstr>Steps 5 the workshop</vt:lpstr>
      <vt:lpstr>Steps 5 Workshop result: Mermaid (v1)</vt:lpstr>
      <vt:lpstr>Step 5 revisited: speech act vs. document act</vt:lpstr>
      <vt:lpstr>Identifiers reveal recurrence</vt:lpstr>
      <vt:lpstr>File Engineering aligned to IAO</vt:lpstr>
      <vt:lpstr>Course material applied in this revision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Luay M. Assidmi</dc:creator>
  <cp:lastModifiedBy>Luay M. Assidmi</cp:lastModifiedBy>
  <cp:revision>4</cp:revision>
  <dcterms:created xsi:type="dcterms:W3CDTF">2026-09-18T09:58:53Z</dcterms:created>
  <dcterms:modified xsi:type="dcterms:W3CDTF">2026-10-17T08:17:15Z</dcterms:modified>
</cp:coreProperties>
</file>